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demonstration. Sources: [customer-001], [assignment-001], [brand-001].</a:t>
            </a:r>
          </a:p>
          <a:p>
            <a:r>
              <a:t>Human context: judgment-observation-001 (human-confirmed).</a:t>
            </a:r>
          </a:p>
          <a:p>
            <a:r>
              <a:t>ReadoutPlan 1.0 SHA-256 d123447c48fa13e82e5749dc15882bd4a2eb47098dadfe65cdd5b06fd81902d4.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Decision: approve a four-week recommendation-only supervised pilot. Sources: [baseline-001], [authority-001], [target-001], [build-001], [eval-001], [assignment-001].</a:t>
            </a:r>
          </a:p>
          <a:p>
            <a:r>
              <a:t>Human context: judgment-rationale-001 (human-confirmed).</a:t>
            </a:r>
          </a:p>
          <a:p>
            <a:r>
              <a:t>ReadoutPlan 1.0 SHA-256 d123447c48fa13e82e5749dc15882bd4a2eb47098dadfe65cdd5b06fd81902d4.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customer profile. Source: [customer-001].</a:t>
            </a:r>
          </a:p>
          <a:p>
            <a:r>
              <a:t>Human context: judgment-observation-001 (human-confirmed).</a:t>
            </a:r>
          </a:p>
          <a:p>
            <a:r>
              <a:t>ReadoutPlan 1.0 SHA-256 d123447c48fa13e82e5749dc15882bd4a2eb47098dadfe65cdd5b06fd81902d4.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baseline and target. Sources: [baseline-001], [target-001].</a:t>
            </a:r>
          </a:p>
          <a:p>
            <a:r>
              <a:t>Human context: judgment-surprise-001 (human-confirmed).</a:t>
            </a:r>
          </a:p>
          <a:p>
            <a:r>
              <a:t>ReadoutPlan 1.0 SHA-256 d123447c48fa13e82e5749dc15882bd4a2eb47098dadfe65cdd5b06fd81902d4.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workflow diagram. Source: [workflow-001].</a:t>
            </a:r>
          </a:p>
          <a:p>
            <a:r>
              <a:t>Human context: judgment-observation-001, judgment-failed-attempt-001 (human-confirmed).</a:t>
            </a:r>
          </a:p>
          <a:p>
            <a:r>
              <a:t>ReadoutPlan 1.0 SHA-256 d123447c48fa13e82e5749dc15882bd4a2eb47098dadfe65cdd5b06fd81902d4.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Findings. Sources: [workflow-001], [baseline-001], [authority-001].</a:t>
            </a:r>
          </a:p>
          <a:p>
            <a:r>
              <a:t>Human context: judgment-observation-001, judgment-failed-attempt-001, judgment-surprise-001 (human-confirmed).</a:t>
            </a:r>
          </a:p>
          <a:p>
            <a:r>
              <a:t>ReadoutPlan 1.0 SHA-256 d123447c48fa13e82e5749dc15882bd4a2eb47098dadfe65cdd5b06fd81902d4.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Future-state responsibility allocation. Sources: [authority-001], [build-001].</a:t>
            </a:r>
          </a:p>
          <a:p>
            <a:r>
              <a:t>Human context: judgment-rationale-001 (human-confirmed).</a:t>
            </a:r>
          </a:p>
          <a:p>
            <a:r>
              <a:t>ReadoutPlan 1.0 SHA-256 d123447c48fa13e82e5749dc15882bd4a2eb47098dadfe65cdd5b06fd81902d4.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offline evaluation. Source: [eval-001].</a:t>
            </a:r>
          </a:p>
          <a:p>
            <a:r>
              <a:t>Human context: judgment-rationale-001, judgment-surprise-001 (human-confirmed).</a:t>
            </a:r>
          </a:p>
          <a:p>
            <a:r>
              <a:t>ReadoutPlan 1.0 SHA-256 d123447c48fa13e82e5749dc15882bd4a2eb47098dadfe65cdd5b06fd81902d4.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Highest-consequence risks and controls. Sources: [baseline-001], [authority-001], [build-001], [eval-001].</a:t>
            </a:r>
          </a:p>
          <a:p>
            <a:r>
              <a:t>Human context: judgment-rationale-001 (human-confirmed).</a:t>
            </a:r>
          </a:p>
          <a:p>
            <a:r>
              <a:t>ReadoutPlan 1.0 SHA-256 d123447c48fa13e82e5749dc15882bd4a2eb47098dadfe65cdd5b06fd81902d4.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Decision and next steps. Sources: [target-001], [assignment-001], [assignment-002], [assignment-003].</a:t>
            </a:r>
          </a:p>
          <a:p>
            <a:r>
              <a:t>Human context: judgment-rationale-001 (human-confirmed).</a:t>
            </a:r>
          </a:p>
          <a:p>
            <a:r>
              <a:t>ReadoutPlan 1.0 SHA-256 d123447c48fa13e82e5749dc15882bd4a2eb47098dadfe65cdd5b06fd81902d4.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 and provenance register. Sources: [customer-001], [workflow-001], [baseline-001], [authority-001], [target-001], [build-001], [eval-001], [assignment-001], [assignment-002], [assignment-003], [brand-001].</a:t>
            </a:r>
          </a:p>
          <a:p>
            <a:r>
              <a:t>Human context: judgment-observation-001, judgment-failed-attempt-001, judgment-surprise-001, judgment-rationale-001 (human-confirmed).</a:t>
            </a:r>
          </a:p>
          <a:p>
            <a:r>
              <a:t>ReadoutPlan 1.0 SHA-256 d123447c48fa13e82e5749dc15882bd4a2eb47098dadfe65cdd5b06fd81902d4.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520000" y="780000"/>
            <a:ext cx="85000" cy="3950000"/>
          </a:xfrm>
          <a:prstGeom prst="rect">
            <a:avLst/>
          </a:prstGeom>
          <a:solidFill>
            <a:srgbClr val="B91C8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0000" y="520000"/>
            <a:ext cx="520000" cy="9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Shape 5"/>
          <p:cNvSpPr/>
          <p:nvPr/>
        </p:nvSpPr>
        <p:spPr>
          <a:xfrm>
            <a:off x="810000" y="650000"/>
            <a:ext cx="520000" cy="90000"/>
          </a:xfrm>
          <a:prstGeom prst="roundRect">
            <a:avLst/>
          </a:prstGeom>
          <a:solidFill>
            <a:srgbClr val="6AA9E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Shape 6"/>
          <p:cNvSpPr/>
          <p:nvPr/>
        </p:nvSpPr>
        <p:spPr>
          <a:xfrm>
            <a:off x="940000" y="780000"/>
            <a:ext cx="520000" cy="90000"/>
          </a:xfrm>
          <a:prstGeom prst="roundRect">
            <a:avLst/>
          </a:prstGeom>
          <a:solidFill>
            <a:srgbClr val="B91C8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1570000" y="490000"/>
            <a:ext cx="3700000" cy="43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pc="200" b="1" sz="1800">
                <a:solidFill>
                  <a:srgbClr val="FFFFFF"/>
                </a:solidFill>
                <a:latin typeface="Segoe Sans Display"/>
              </a:rPr>
              <a:t>LATTICE HARBOR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0000" y="1430000"/>
            <a:ext cx="7200000" cy="11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3400">
                <a:solidFill>
                  <a:srgbClr val="FFFFFF"/>
                </a:solidFill>
                <a:latin typeface="Segoe Sans Display"/>
              </a:rPr>
              <a:t>Shipment exception triage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0000" y="2640000"/>
            <a:ext cx="6800000" cy="73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000">
                <a:solidFill>
                  <a:srgbClr val="E8E8E8"/>
                </a:solidFill>
                <a:latin typeface="Segoe Sans Display"/>
              </a:rPr>
              <a:t>Decision readout for a recommendation-only supervised pilot</a:t>
            </a:r>
          </a:p>
        </p:txBody>
      </p:sp>
      <p:sp>
        <p:nvSpPr>
          <p:cNvPr id="10" name="Shape 10"/>
          <p:cNvSpPr/>
          <p:nvPr/>
        </p:nvSpPr>
        <p:spPr>
          <a:xfrm>
            <a:off x="700000" y="3680000"/>
            <a:ext cx="6500000" cy="670000"/>
          </a:xfrm>
          <a:prstGeom prst="roundRect">
            <a:avLst/>
          </a:prstGeom>
          <a:solidFill>
            <a:srgbClr val="0B1020"/>
          </a:solidFill>
          <a:ln w="19050">
            <a:solidFill>
              <a:srgbClr val="2563EB"/>
            </a:solidFill>
          </a:ln>
        </p:spPr>
        <p:txBody>
          <a:bodyPr rtlCol="0" anchor="ctr"/>
          <a:lstStyle/>
          <a:p>
            <a:r>
              <a:rPr spc="60" b="1" sz="1400">
                <a:solidFill>
                  <a:srgbClr val="FFFFFF"/>
                </a:solidFill>
                <a:latin typeface="Segoe Sans Display"/>
              </a:rPr>
              <a:t>DECISION  |  APPROVE A FOUR-WEEK SUPERVISED PILOT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0000" y="4920000"/>
            <a:ext cx="6700000" cy="5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200">
                <a:solidFill>
                  <a:srgbClr val="B5C4CF"/>
                </a:solidFill>
                <a:latin typeface="Segoe Sans Display"/>
              </a:rPr>
              <a:t>As of 23 August 2026  |  FICTIONAL CUSTOMER READOUT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0000" y="6190000"/>
            <a:ext cx="41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120">
                <a:solidFill>
                  <a:srgbClr val="B91C8C"/>
                </a:solidFill>
                <a:latin typeface="Segoe Sans Display"/>
              </a:rPr>
              <a:t>FICTIONAL DEMONSTRATION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00000" y="6190000"/>
            <a:ext cx="292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000">
                <a:solidFill>
                  <a:srgbClr val="8FA6B5"/>
                </a:solidFill>
                <a:latin typeface="Segoe Sans Display"/>
              </a:rPr>
              <a:t>No real company or metrics</a:t>
            </a:r>
          </a:p>
        </p:txBody>
      </p:sp>
      <p:sp>
        <p:nvSpPr>
          <p:cNvPr id="14" name="Shape 14"/>
          <p:cNvSpPr/>
          <p:nvPr/>
        </p:nvSpPr>
        <p:spPr>
          <a:xfrm>
            <a:off x="9000000" y="0"/>
            <a:ext cx="3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Shape 15"/>
          <p:cNvSpPr/>
          <p:nvPr/>
        </p:nvSpPr>
        <p:spPr>
          <a:xfrm>
            <a:off x="9500000" y="950000"/>
            <a:ext cx="2200000" cy="65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Shape 16"/>
          <p:cNvSpPr/>
          <p:nvPr/>
        </p:nvSpPr>
        <p:spPr>
          <a:xfrm>
            <a:off x="9850000" y="1780000"/>
            <a:ext cx="1850000" cy="650000"/>
          </a:xfrm>
          <a:prstGeom prst="roundRect">
            <a:avLst/>
          </a:prstGeom>
          <a:solidFill>
            <a:srgbClr val="B91C8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9500000" y="3000000"/>
            <a:ext cx="2100000" cy="8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4200">
                <a:solidFill>
                  <a:srgbClr val="0B1020"/>
                </a:solidFill>
                <a:latin typeface="Segoe Sans Display"/>
              </a:rPr>
              <a:t>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00000" y="3900000"/>
            <a:ext cx="2100000" cy="10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200">
                <a:solidFill>
                  <a:srgbClr val="0B1020"/>
                </a:solidFill>
                <a:latin typeface="Segoe Sans Display"/>
              </a:rPr>
              <a:t>Decision</a:t>
            </a:r>
          </a:p>
          <a:p>
            <a:r>
              <a:rPr sz="2200">
                <a:solidFill>
                  <a:srgbClr val="0B1020"/>
                </a:solidFill>
                <a:latin typeface="Segoe Sans Display"/>
              </a:rPr>
              <a:t>readout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00000" y="5700000"/>
            <a:ext cx="21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150">
                <a:solidFill>
                  <a:srgbClr val="B91C8C"/>
                </a:solidFill>
                <a:latin typeface="Segoe Sans Display"/>
              </a:rPr>
              <a:t>LATTICE HARBOR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1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600000" y="360000"/>
            <a:ext cx="26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000" spc="200">
                <a:solidFill>
                  <a:srgbClr val="B91C8C"/>
                </a:solidFill>
                <a:latin typeface="Segoe Sans Display"/>
              </a:rPr>
              <a:t>DECISION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00" y="760000"/>
            <a:ext cx="11000000" cy="7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800">
                <a:solidFill>
                  <a:srgbClr val="0B1020"/>
                </a:solidFill>
                <a:latin typeface="Segoe Sans Display"/>
              </a:rPr>
              <a:t>Approve a supervised pilot within a fixed authority boundary</a:t>
            </a:r>
          </a:p>
        </p:txBody>
      </p:sp>
      <p:sp>
        <p:nvSpPr>
          <p:cNvPr id="6" name="Shape 6"/>
          <p:cNvSpPr/>
          <p:nvPr/>
        </p:nvSpPr>
        <p:spPr>
          <a:xfrm>
            <a:off x="600000" y="6350000"/>
            <a:ext cx="11000000" cy="18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00000" y="6420000"/>
            <a:ext cx="300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800" spc="70">
                <a:solidFill>
                  <a:srgbClr val="B91C8C"/>
                </a:solidFill>
                <a:latin typeface="Segoe Sans Display"/>
              </a:rPr>
              <a:t>FICTIONAL DEMONSTRATION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00000" y="6420000"/>
            <a:ext cx="274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800">
                <a:solidFill>
                  <a:srgbClr val="4B5563"/>
                </a:solidFill>
                <a:latin typeface="Segoe Sans Display"/>
              </a:rPr>
              <a:t>FICTIONAL CUSTOMER READOUT</a:t>
            </a:r>
          </a:p>
        </p:txBody>
      </p:sp>
      <p:sp>
        <p:nvSpPr>
          <p:cNvPr id="9" name="Shape 9"/>
          <p:cNvSpPr/>
          <p:nvPr/>
        </p:nvSpPr>
        <p:spPr>
          <a:xfrm>
            <a:off x="600000" y="1650000"/>
            <a:ext cx="7300000" cy="3450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950000" y="1950000"/>
            <a:ext cx="3400000" cy="33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120">
                <a:solidFill>
                  <a:srgbClr val="B91C8C"/>
                </a:solidFill>
                <a:latin typeface="Segoe Sans Display"/>
              </a:rPr>
              <a:t>RECOMMENDATION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0000" y="2390000"/>
            <a:ext cx="5800000" cy="8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400">
                <a:solidFill>
                  <a:srgbClr val="FFFFFF"/>
                </a:solidFill>
                <a:latin typeface="Segoe Sans Display"/>
              </a:rPr>
              <a:t>APPROVE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0000" y="3310000"/>
            <a:ext cx="6100000" cy="11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600">
                <a:solidFill>
                  <a:srgbClr val="F4F4F4"/>
                </a:solidFill>
                <a:latin typeface="Segoe Sans Display"/>
              </a:rPr>
              <a:t>Four-week, recommendation-only pilot</a:t>
            </a:r>
          </a:p>
          <a:p>
            <a:r>
              <a:rPr sz="1600">
                <a:solidFill>
                  <a:srgbClr val="F4F4F4"/>
                </a:solidFill>
                <a:latin typeface="Segoe Sans Display"/>
              </a:rPr>
              <a:t>Dispatcher confirms every queue assignment</a:t>
            </a:r>
          </a:p>
          <a:p>
            <a:r>
              <a:rPr sz="1600">
                <a:solidFill>
                  <a:srgbClr val="F4F4F4"/>
                </a:solidFill>
                <a:latin typeface="Segoe Sans Display"/>
              </a:rPr>
              <a:t>No customer commitment or fee-waiver tools</a:t>
            </a:r>
          </a:p>
        </p:txBody>
      </p:sp>
      <p:sp>
        <p:nvSpPr>
          <p:cNvPr id="13" name="Shape 13"/>
          <p:cNvSpPr/>
          <p:nvPr/>
        </p:nvSpPr>
        <p:spPr>
          <a:xfrm>
            <a:off x="8500000" y="1650000"/>
            <a:ext cx="3050000" cy="1500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8850000" y="1910000"/>
            <a:ext cx="235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2563EB"/>
                </a:solidFill>
                <a:latin typeface="Segoe Sans Display"/>
              </a:rPr>
              <a:t>PILOT TARGET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50000" y="2310000"/>
            <a:ext cx="2350000" cy="6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800">
                <a:solidFill>
                  <a:srgbClr val="0B1020"/>
                </a:solidFill>
                <a:latin typeface="Segoe Sans Display"/>
              </a:rPr>
              <a:t>≤20 min median</a:t>
            </a:r>
          </a:p>
          <a:p>
            <a:r>
              <a:rPr b="1" sz="1800">
                <a:solidFill>
                  <a:srgbClr val="0B1020"/>
                </a:solidFill>
                <a:latin typeface="Segoe Sans Display"/>
              </a:rPr>
              <a:t>≤10% reclassified</a:t>
            </a:r>
          </a:p>
        </p:txBody>
      </p:sp>
      <p:sp>
        <p:nvSpPr>
          <p:cNvPr id="16" name="Shape 16"/>
          <p:cNvSpPr/>
          <p:nvPr/>
        </p:nvSpPr>
        <p:spPr>
          <a:xfrm>
            <a:off x="8500000" y="3400000"/>
            <a:ext cx="3050000" cy="1600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8850000" y="3660000"/>
            <a:ext cx="235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D92D20"/>
                </a:solidFill>
                <a:latin typeface="Segoe Sans Display"/>
              </a:rPr>
              <a:t>AUTHORITY LIMIT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50000" y="4060000"/>
            <a:ext cx="2350000" cy="7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500">
                <a:solidFill>
                  <a:srgbClr val="7F1D1D"/>
                </a:solidFill>
                <a:latin typeface="Segoe Sans Display"/>
              </a:rPr>
              <a:t>Human confirms routing</a:t>
            </a:r>
          </a:p>
          <a:p>
            <a:r>
              <a:rPr b="1" sz="1500">
                <a:solidFill>
                  <a:srgbClr val="7F1D1D"/>
                </a:solidFill>
                <a:latin typeface="Segoe Sans Display"/>
              </a:rPr>
              <a:t>Duty manager retains commitments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0000" y="5450000"/>
            <a:ext cx="10800000" cy="4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100">
                <a:solidFill>
                  <a:srgbClr val="4B5563"/>
                </a:solidFill>
                <a:latin typeface="Segoe Sans Display"/>
              </a:rPr>
              <a:t>Decision owner: VP Network Operations  |  Due 29 Aug 2026  |  [baseline-001] [authority-001] [eval-001]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1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600000" y="360000"/>
            <a:ext cx="26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000" spc="200">
                <a:solidFill>
                  <a:srgbClr val="B91C8C"/>
                </a:solidFill>
                <a:latin typeface="Segoe Sans Display"/>
              </a:rPr>
              <a:t>CUSTOMER PROFILE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00" y="760000"/>
            <a:ext cx="11000000" cy="7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800">
                <a:solidFill>
                  <a:srgbClr val="0B1020"/>
                </a:solidFill>
                <a:latin typeface="Segoe Sans Display"/>
              </a:rPr>
              <a:t>Lattice Harbor coordinates exception recovery across three operating corridors</a:t>
            </a:r>
          </a:p>
        </p:txBody>
      </p:sp>
      <p:sp>
        <p:nvSpPr>
          <p:cNvPr id="6" name="Shape 6"/>
          <p:cNvSpPr/>
          <p:nvPr/>
        </p:nvSpPr>
        <p:spPr>
          <a:xfrm>
            <a:off x="600000" y="6350000"/>
            <a:ext cx="11000000" cy="18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00000" y="6420000"/>
            <a:ext cx="300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800" spc="70">
                <a:solidFill>
                  <a:srgbClr val="B91C8C"/>
                </a:solidFill>
                <a:latin typeface="Segoe Sans Display"/>
              </a:rPr>
              <a:t>FICTIONAL DEMONSTRATION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00000" y="6420000"/>
            <a:ext cx="274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800">
                <a:solidFill>
                  <a:srgbClr val="4B5563"/>
                </a:solidFill>
                <a:latin typeface="Segoe Sans Display"/>
              </a:rPr>
              <a:t>FICTIONAL CUSTOMER READOUT</a:t>
            </a:r>
          </a:p>
        </p:txBody>
      </p:sp>
      <p:sp>
        <p:nvSpPr>
          <p:cNvPr id="9" name="Shape 9"/>
          <p:cNvSpPr/>
          <p:nvPr/>
        </p:nvSpPr>
        <p:spPr>
          <a:xfrm>
            <a:off x="600000" y="1650000"/>
            <a:ext cx="7300000" cy="3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900000" y="1900000"/>
            <a:ext cx="62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100">
                <a:solidFill>
                  <a:srgbClr val="2563EB"/>
                </a:solidFill>
                <a:latin typeface="Segoe Sans Display"/>
              </a:rPr>
              <a:t>FICTIONAL COMPANY PROFILE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0000" y="2330000"/>
            <a:ext cx="5700000" cy="5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300">
                <a:solidFill>
                  <a:srgbClr val="0B1020"/>
                </a:solidFill>
                <a:latin typeface="Segoe Sans Display"/>
              </a:rPr>
              <a:t>Lattice Harbor Logistics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0000" y="3010000"/>
            <a:ext cx="5700000" cy="104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400">
                <a:solidFill>
                  <a:srgbClr val="1B1A19"/>
                </a:solidFill>
                <a:latin typeface="Segoe Sans Display"/>
              </a:rPr>
              <a:t>Industry  Freight logistics</a:t>
            </a:r>
          </a:p>
          <a:p>
            <a:r>
              <a:rPr sz="1400">
                <a:solidFill>
                  <a:srgbClr val="1B1A19"/>
                </a:solidFill>
                <a:latin typeface="Segoe Sans Display"/>
              </a:rPr>
              <a:t>Business unit  Network Operations</a:t>
            </a:r>
          </a:p>
          <a:p>
            <a:r>
              <a:rPr sz="1400">
                <a:solidFill>
                  <a:srgbClr val="1B1A19"/>
                </a:solidFill>
                <a:latin typeface="Segoe Sans Display"/>
              </a:rPr>
              <a:t>Customers  Regional manufacturers and distributors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0000" y="4270000"/>
            <a:ext cx="5700000" cy="6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500">
                <a:solidFill>
                  <a:srgbClr val="4B5563"/>
                </a:solidFill>
                <a:latin typeface="Segoe Sans Display"/>
              </a:rPr>
              <a:t>Coordinates freight movements and exception recovery across port, rail, and warehouse corridors.</a:t>
            </a:r>
          </a:p>
        </p:txBody>
      </p:sp>
      <p:sp>
        <p:nvSpPr>
          <p:cNvPr id="14" name="Shape 14"/>
          <p:cNvSpPr/>
          <p:nvPr/>
        </p:nvSpPr>
        <p:spPr>
          <a:xfrm>
            <a:off x="8500000" y="1650000"/>
            <a:ext cx="3050000" cy="1750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8850000" y="1910000"/>
            <a:ext cx="235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B91C8C"/>
                </a:solidFill>
                <a:latin typeface="Segoe Sans Display"/>
              </a:rPr>
              <a:t>HOW VALUE IS CREATED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50000" y="2350000"/>
            <a:ext cx="2350000" cy="7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>
                <a:solidFill>
                  <a:srgbClr val="FFFFFF"/>
                </a:solidFill>
                <a:latin typeface="Segoe Sans Display"/>
              </a:rPr>
              <a:t>Correct routing starts recovery work earlier and reduces dispatcher rework.</a:t>
            </a:r>
          </a:p>
        </p:txBody>
      </p:sp>
      <p:sp>
        <p:nvSpPr>
          <p:cNvPr id="17" name="Shape 17"/>
          <p:cNvSpPr/>
          <p:nvPr/>
        </p:nvSpPr>
        <p:spPr>
          <a:xfrm>
            <a:off x="8500000" y="3650000"/>
            <a:ext cx="900000" cy="520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r>
              <a:rPr b="1" sz="1000">
                <a:solidFill>
                  <a:srgbClr val="2563EB"/>
                </a:solidFill>
                <a:latin typeface="Segoe Sans Display"/>
              </a:rPr>
              <a:t>PORT</a:t>
            </a:r>
          </a:p>
        </p:txBody>
      </p:sp>
      <p:sp>
        <p:nvSpPr>
          <p:cNvPr id="18" name="Shape 18"/>
          <p:cNvSpPr/>
          <p:nvPr/>
        </p:nvSpPr>
        <p:spPr>
          <a:xfrm>
            <a:off x="9550000" y="3650000"/>
            <a:ext cx="900000" cy="520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r>
              <a:rPr b="1" sz="1000">
                <a:solidFill>
                  <a:srgbClr val="2563EB"/>
                </a:solidFill>
                <a:latin typeface="Segoe Sans Display"/>
              </a:rPr>
              <a:t>RAIL</a:t>
            </a:r>
          </a:p>
        </p:txBody>
      </p:sp>
      <p:sp>
        <p:nvSpPr>
          <p:cNvPr id="19" name="Shape 19"/>
          <p:cNvSpPr/>
          <p:nvPr/>
        </p:nvSpPr>
        <p:spPr>
          <a:xfrm>
            <a:off x="10600000" y="3650000"/>
            <a:ext cx="1000000" cy="520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r>
              <a:rPr b="1" sz="900">
                <a:solidFill>
                  <a:srgbClr val="2563EB"/>
                </a:solidFill>
                <a:latin typeface="Segoe Sans Display"/>
              </a:rPr>
              <a:t>WAREHOUSE</a:t>
            </a:r>
          </a:p>
        </p:txBody>
      </p:sp>
      <p:sp>
        <p:nvSpPr>
          <p:cNvPr id="20" name="Shape 20"/>
          <p:cNvSpPr/>
          <p:nvPr/>
        </p:nvSpPr>
        <p:spPr>
          <a:xfrm>
            <a:off x="8500000" y="4400000"/>
            <a:ext cx="3050000" cy="900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8850000" y="4610000"/>
            <a:ext cx="2350000" cy="5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300">
                <a:solidFill>
                  <a:srgbClr val="7F1D1D"/>
                </a:solidFill>
                <a:latin typeface="Segoe Sans Display"/>
              </a:rPr>
              <a:t>Profile fields appear only because they change qualification, scope, or the decision.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0000" y="5530000"/>
            <a:ext cx="10800000" cy="3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000">
                <a:solidFill>
                  <a:srgbClr val="4B5563"/>
                </a:solidFill>
                <a:latin typeface="Segoe Sans Display"/>
              </a:rPr>
              <a:t>Profile evidence  [customer-001]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1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600000" y="360000"/>
            <a:ext cx="26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000" spc="200">
                <a:solidFill>
                  <a:srgbClr val="B91C8C"/>
                </a:solidFill>
                <a:latin typeface="Segoe Sans Display"/>
              </a:rPr>
              <a:t>OUTCOME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00" y="760000"/>
            <a:ext cx="11000000" cy="7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800">
                <a:solidFill>
                  <a:srgbClr val="0B1020"/>
                </a:solidFill>
                <a:latin typeface="Segoe Sans Display"/>
              </a:rPr>
              <a:t>The fictional baseline shows delayed routing and repeated classification</a:t>
            </a:r>
          </a:p>
        </p:txBody>
      </p:sp>
      <p:sp>
        <p:nvSpPr>
          <p:cNvPr id="6" name="Shape 6"/>
          <p:cNvSpPr/>
          <p:nvPr/>
        </p:nvSpPr>
        <p:spPr>
          <a:xfrm>
            <a:off x="600000" y="6350000"/>
            <a:ext cx="11000000" cy="18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00000" y="6420000"/>
            <a:ext cx="300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800" spc="70">
                <a:solidFill>
                  <a:srgbClr val="B91C8C"/>
                </a:solidFill>
                <a:latin typeface="Segoe Sans Display"/>
              </a:rPr>
              <a:t>FICTIONAL DEMONSTRATION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00000" y="6420000"/>
            <a:ext cx="274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800">
                <a:solidFill>
                  <a:srgbClr val="4B5563"/>
                </a:solidFill>
                <a:latin typeface="Segoe Sans Display"/>
              </a:rPr>
              <a:t>FICTIONAL CUSTOMER READOUT</a:t>
            </a:r>
          </a:p>
        </p:txBody>
      </p:sp>
      <p:sp>
        <p:nvSpPr>
          <p:cNvPr id="9" name="Shape 9"/>
          <p:cNvSpPr/>
          <p:nvPr/>
        </p:nvSpPr>
        <p:spPr>
          <a:xfrm>
            <a:off x="600000" y="1700000"/>
            <a:ext cx="3450000" cy="1850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950000" y="1980000"/>
            <a:ext cx="26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900" spc="80">
                <a:solidFill>
                  <a:srgbClr val="B91C8C"/>
                </a:solidFill>
                <a:latin typeface="Segoe Sans Display"/>
              </a:rPr>
              <a:t>MEDIAN FIRST ROUTING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0000" y="2400000"/>
            <a:ext cx="2500000" cy="7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00">
                <a:solidFill>
                  <a:srgbClr val="FFFFFF"/>
                </a:solidFill>
                <a:latin typeface="Segoe Sans Display"/>
              </a:rPr>
              <a:t>47 min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0000" y="3110000"/>
            <a:ext cx="250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Segoe Sans Display"/>
              </a:rPr>
              <a:t>fictional baseline</a:t>
            </a:r>
          </a:p>
        </p:txBody>
      </p:sp>
      <p:sp>
        <p:nvSpPr>
          <p:cNvPr id="13" name="Shape 13"/>
          <p:cNvSpPr/>
          <p:nvPr/>
        </p:nvSpPr>
        <p:spPr>
          <a:xfrm>
            <a:off x="4370000" y="1700000"/>
            <a:ext cx="3450000" cy="185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4720000" y="1980000"/>
            <a:ext cx="26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900" spc="80">
                <a:solidFill>
                  <a:srgbClr val="F3F4F6"/>
                </a:solidFill>
                <a:latin typeface="Segoe Sans Display"/>
              </a:rPr>
              <a:t>RECLASSIFIED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20000" y="2400000"/>
            <a:ext cx="2500000" cy="7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00">
                <a:solidFill>
                  <a:srgbClr val="FFFFFF"/>
                </a:solidFill>
                <a:latin typeface="Segoe Sans Display"/>
              </a:rPr>
              <a:t>21.6%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20000" y="3110000"/>
            <a:ext cx="250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000">
                <a:solidFill>
                  <a:srgbClr val="F3F4F6"/>
                </a:solidFill>
                <a:latin typeface="Segoe Sans Display"/>
              </a:rPr>
              <a:t>fictional baseline</a:t>
            </a:r>
          </a:p>
        </p:txBody>
      </p:sp>
      <p:sp>
        <p:nvSpPr>
          <p:cNvPr id="17" name="Shape 17"/>
          <p:cNvSpPr/>
          <p:nvPr/>
        </p:nvSpPr>
        <p:spPr>
          <a:xfrm>
            <a:off x="8140000" y="1700000"/>
            <a:ext cx="3450000" cy="1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8490000" y="1980000"/>
            <a:ext cx="26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900" spc="80">
                <a:solidFill>
                  <a:srgbClr val="2563EB"/>
                </a:solidFill>
                <a:latin typeface="Segoe Sans Display"/>
              </a:rPr>
              <a:t>SAMPLE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0000" y="2400000"/>
            <a:ext cx="2500000" cy="7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00">
                <a:solidFill>
                  <a:srgbClr val="0B1020"/>
                </a:solidFill>
                <a:latin typeface="Segoe Sans Display"/>
              </a:rPr>
              <a:t>1,240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0000" y="3110000"/>
            <a:ext cx="250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000">
                <a:solidFill>
                  <a:srgbClr val="4B5563"/>
                </a:solidFill>
                <a:latin typeface="Segoe Sans Display"/>
              </a:rPr>
              <a:t>exceptions / 4 weeks</a:t>
            </a:r>
          </a:p>
        </p:txBody>
      </p:sp>
      <p:sp>
        <p:nvSpPr>
          <p:cNvPr id="21" name="Shape 21"/>
          <p:cNvSpPr/>
          <p:nvPr/>
        </p:nvSpPr>
        <p:spPr>
          <a:xfrm>
            <a:off x="600000" y="3900000"/>
            <a:ext cx="10950000" cy="1450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900000" y="4170000"/>
            <a:ext cx="1900000" cy="2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2563EB"/>
                </a:solidFill>
                <a:latin typeface="Segoe Sans Display"/>
              </a:rPr>
              <a:t>PILOT OUTCOME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000" y="4580000"/>
            <a:ext cx="9850000" cy="6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800">
                <a:solidFill>
                  <a:srgbClr val="1B1A19"/>
                </a:solidFill>
                <a:latin typeface="Segoe Sans Display"/>
              </a:rPr>
              <a:t>Reach ≤20 minutes median and ≤10% reclassification without transferring commitment authority.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0000" y="5590000"/>
            <a:ext cx="10800000" cy="3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000">
                <a:solidFill>
                  <a:srgbClr val="4B5563"/>
                </a:solidFill>
                <a:latin typeface="Segoe Sans Display"/>
              </a:rPr>
              <a:t>Fictional sample and target  [baseline-001] [target-001]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1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600000" y="360000"/>
            <a:ext cx="26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000" spc="200">
                <a:solidFill>
                  <a:srgbClr val="B91C8C"/>
                </a:solidFill>
                <a:latin typeface="Segoe Sans Display"/>
              </a:rPr>
              <a:t>CURRENT WORKFLOW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00" y="760000"/>
            <a:ext cx="11000000" cy="7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800">
                <a:solidFill>
                  <a:srgbClr val="0B1020"/>
                </a:solidFill>
                <a:latin typeface="Segoe Sans Display"/>
              </a:rPr>
              <a:t>Dispatchers assemble one decision from three systems</a:t>
            </a:r>
          </a:p>
        </p:txBody>
      </p:sp>
      <p:sp>
        <p:nvSpPr>
          <p:cNvPr id="6" name="Shape 6"/>
          <p:cNvSpPr/>
          <p:nvPr/>
        </p:nvSpPr>
        <p:spPr>
          <a:xfrm>
            <a:off x="600000" y="6350000"/>
            <a:ext cx="11000000" cy="18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00000" y="6420000"/>
            <a:ext cx="300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800" spc="70">
                <a:solidFill>
                  <a:srgbClr val="B91C8C"/>
                </a:solidFill>
                <a:latin typeface="Segoe Sans Display"/>
              </a:rPr>
              <a:t>FICTIONAL DEMONSTRATION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00000" y="6420000"/>
            <a:ext cx="274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800">
                <a:solidFill>
                  <a:srgbClr val="4B5563"/>
                </a:solidFill>
                <a:latin typeface="Segoe Sans Display"/>
              </a:rPr>
              <a:t>FICTIONAL CUSTOMER READOUT</a:t>
            </a:r>
          </a:p>
        </p:txBody>
      </p:sp>
      <p:sp>
        <p:nvSpPr>
          <p:cNvPr id="9" name="Shape 9"/>
          <p:cNvSpPr/>
          <p:nvPr/>
        </p:nvSpPr>
        <p:spPr>
          <a:xfrm>
            <a:off x="600000" y="1700000"/>
            <a:ext cx="250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r>
              <a:rPr b="1" sz="1500">
                <a:solidFill>
                  <a:srgbClr val="0B1020"/>
                </a:solidFill>
                <a:latin typeface="Segoe Sans Display"/>
              </a:rPr>
              <a:t>ATLAS TMS</a:t>
            </a:r>
          </a:p>
          <a:p>
            <a:r>
              <a:rPr sz="1100">
                <a:solidFill>
                  <a:srgbClr val="4B5563"/>
                </a:solidFill>
                <a:latin typeface="Segoe Sans Display"/>
              </a:rPr>
              <a:t>shipment + status</a:t>
            </a:r>
          </a:p>
        </p:txBody>
      </p:sp>
      <p:sp>
        <p:nvSpPr>
          <p:cNvPr id="10" name="Shape 10"/>
          <p:cNvSpPr/>
          <p:nvPr/>
        </p:nvSpPr>
        <p:spPr>
          <a:xfrm>
            <a:off x="600000" y="2850000"/>
            <a:ext cx="250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r>
              <a:rPr b="1" sz="1500">
                <a:solidFill>
                  <a:srgbClr val="0B1020"/>
                </a:solidFill>
                <a:latin typeface="Segoe Sans Display"/>
              </a:rPr>
              <a:t>SHARED INBOX</a:t>
            </a:r>
          </a:p>
          <a:p>
            <a:r>
              <a:rPr sz="1100">
                <a:solidFill>
                  <a:srgbClr val="4B5563"/>
                </a:solidFill>
                <a:latin typeface="Segoe Sans Display"/>
              </a:rPr>
              <a:t>carrier + warehouse</a:t>
            </a:r>
          </a:p>
        </p:txBody>
      </p:sp>
      <p:sp>
        <p:nvSpPr>
          <p:cNvPr id="11" name="Shape 11"/>
          <p:cNvSpPr/>
          <p:nvPr/>
        </p:nvSpPr>
        <p:spPr>
          <a:xfrm>
            <a:off x="600000" y="4000000"/>
            <a:ext cx="250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r>
              <a:rPr b="1" sz="1500">
                <a:solidFill>
                  <a:srgbClr val="0B1020"/>
                </a:solidFill>
                <a:latin typeface="Segoe Sans Display"/>
              </a:rPr>
              <a:t>ROUTING SHEET</a:t>
            </a:r>
          </a:p>
          <a:p>
            <a:r>
              <a:rPr sz="1100">
                <a:solidFill>
                  <a:srgbClr val="4B5563"/>
                </a:solidFill>
                <a:latin typeface="Segoe Sans Display"/>
              </a:rPr>
              <a:t>local rules + notes</a:t>
            </a:r>
          </a:p>
        </p:txBody>
      </p:sp>
      <p:sp>
        <p:nvSpPr>
          <p:cNvPr id="12" name="Shape 12"/>
          <p:cNvSpPr/>
          <p:nvPr/>
        </p:nvSpPr>
        <p:spPr>
          <a:xfrm>
            <a:off x="3250000" y="2230000"/>
            <a:ext cx="900000" cy="500000"/>
          </a:xfrm>
          <a:prstGeom prst="rightArrow">
            <a:avLst/>
          </a:prstGeom>
          <a:noFill/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Shape 13"/>
          <p:cNvSpPr/>
          <p:nvPr/>
        </p:nvSpPr>
        <p:spPr>
          <a:xfrm>
            <a:off x="3250000" y="3250000"/>
            <a:ext cx="900000" cy="500000"/>
          </a:xfrm>
          <a:prstGeom prst="rightArrow">
            <a:avLst/>
          </a:prstGeom>
          <a:noFill/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Shape 14"/>
          <p:cNvSpPr/>
          <p:nvPr/>
        </p:nvSpPr>
        <p:spPr>
          <a:xfrm>
            <a:off x="3250000" y="4270000"/>
            <a:ext cx="900000" cy="500000"/>
          </a:xfrm>
          <a:prstGeom prst="rightArrow">
            <a:avLst/>
          </a:prstGeom>
          <a:noFill/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Shape 15"/>
          <p:cNvSpPr/>
          <p:nvPr/>
        </p:nvSpPr>
        <p:spPr>
          <a:xfrm>
            <a:off x="4450000" y="2550000"/>
            <a:ext cx="3000000" cy="1800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4850000" y="2910000"/>
            <a:ext cx="2200000" cy="4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400">
                <a:solidFill>
                  <a:srgbClr val="B91C8C"/>
                </a:solidFill>
                <a:latin typeface="Segoe Sans Display"/>
              </a:rPr>
              <a:t>EXCEPTION DISPATCHER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50000" y="3430000"/>
            <a:ext cx="2200000" cy="6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Segoe Sans Display"/>
              </a:rPr>
              <a:t>copies context</a:t>
            </a:r>
          </a:p>
          <a:p>
            <a:r>
              <a:rPr sz="1400">
                <a:solidFill>
                  <a:srgbClr val="FFFFFF"/>
                </a:solidFill>
                <a:latin typeface="Segoe Sans Display"/>
              </a:rPr>
              <a:t>interprets exception</a:t>
            </a:r>
          </a:p>
          <a:p>
            <a:r>
              <a:rPr sz="1400">
                <a:solidFill>
                  <a:srgbClr val="FFFFFF"/>
                </a:solidFill>
                <a:latin typeface="Segoe Sans Display"/>
              </a:rPr>
              <a:t>selects queue</a:t>
            </a:r>
          </a:p>
        </p:txBody>
      </p:sp>
      <p:sp>
        <p:nvSpPr>
          <p:cNvPr id="18" name="Shape 18"/>
          <p:cNvSpPr/>
          <p:nvPr/>
        </p:nvSpPr>
        <p:spPr>
          <a:xfrm>
            <a:off x="7900000" y="3190000"/>
            <a:ext cx="950000" cy="540000"/>
          </a:xfrm>
          <a:prstGeom prst="rightArrow">
            <a:avLst/>
          </a:prstGeom>
          <a:solidFill>
            <a:srgbClr val="B91C8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Shape 19"/>
          <p:cNvSpPr/>
          <p:nvPr/>
        </p:nvSpPr>
        <p:spPr>
          <a:xfrm>
            <a:off x="9300000" y="2750000"/>
            <a:ext cx="2300000" cy="1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1C8C"/>
            </a:solidFill>
          </a:ln>
        </p:spPr>
        <p:txBody>
          <a:bodyPr rtlCol="0" anchor="ctr"/>
          <a:lstStyle/>
          <a:p>
            <a:r>
              <a:rPr b="1" sz="1500">
                <a:solidFill>
                  <a:srgbClr val="0B1020"/>
                </a:solidFill>
                <a:latin typeface="Segoe Sans Display"/>
              </a:rPr>
              <a:t>QUEUE</a:t>
            </a:r>
          </a:p>
          <a:p>
            <a:r>
              <a:rPr b="1" sz="1500">
                <a:solidFill>
                  <a:srgbClr val="0B1020"/>
                </a:solidFill>
                <a:latin typeface="Segoe Sans Display"/>
              </a:rPr>
              <a:t>ASSIGNMENT</a:t>
            </a:r>
          </a:p>
        </p:txBody>
      </p:sp>
      <p:sp>
        <p:nvSpPr>
          <p:cNvPr id="20" name="Shape 20"/>
          <p:cNvSpPr/>
          <p:nvPr/>
        </p:nvSpPr>
        <p:spPr>
          <a:xfrm>
            <a:off x="4450000" y="4750000"/>
            <a:ext cx="7150000" cy="720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4850000" y="4920000"/>
            <a:ext cx="6350000" cy="3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300">
                <a:solidFill>
                  <a:srgbClr val="1B1A19"/>
                </a:solidFill>
                <a:latin typeface="Segoe Sans Display"/>
              </a:rPr>
              <a:t>Context assembly and routing rationale are manual. [workflow-001]</a:t>
            </a:r>
          </a:p>
        </p:txBody>
      </p:sp>
      <p:sp>
        <p:nvSpPr>
          <p:cNvPr id="22" name="Shape 22"/>
          <p:cNvSpPr/>
          <p:nvPr/>
        </p:nvSpPr>
        <p:spPr>
          <a:xfrm>
            <a:off x="3100000" y="2110000"/>
            <a:ext cx="500000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Shape 23"/>
          <p:cNvSpPr/>
          <p:nvPr/>
        </p:nvSpPr>
        <p:spPr>
          <a:xfrm>
            <a:off x="3100000" y="3260000"/>
            <a:ext cx="500000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Shape 24"/>
          <p:cNvSpPr/>
          <p:nvPr/>
        </p:nvSpPr>
        <p:spPr>
          <a:xfrm>
            <a:off x="3100000" y="4410000"/>
            <a:ext cx="500000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Shape 25"/>
          <p:cNvSpPr/>
          <p:nvPr/>
        </p:nvSpPr>
        <p:spPr>
          <a:xfrm>
            <a:off x="3585000" y="2120000"/>
            <a:ext cx="30000" cy="23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Shape 26"/>
          <p:cNvSpPr/>
          <p:nvPr/>
        </p:nvSpPr>
        <p:spPr>
          <a:xfrm>
            <a:off x="3600000" y="3200000"/>
            <a:ext cx="700000" cy="5000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1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600000" y="360000"/>
            <a:ext cx="26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000" spc="200">
                <a:solidFill>
                  <a:srgbClr val="B91C8C"/>
                </a:solidFill>
                <a:latin typeface="Segoe Sans Display"/>
              </a:rPr>
              <a:t>FINDINGS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00" y="760000"/>
            <a:ext cx="11000000" cy="7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800">
                <a:solidFill>
                  <a:srgbClr val="0B1020"/>
                </a:solidFill>
                <a:latin typeface="Segoe Sans Display"/>
              </a:rPr>
              <a:t>Three findings define the pilot scope</a:t>
            </a:r>
          </a:p>
        </p:txBody>
      </p:sp>
      <p:sp>
        <p:nvSpPr>
          <p:cNvPr id="6" name="Shape 6"/>
          <p:cNvSpPr/>
          <p:nvPr/>
        </p:nvSpPr>
        <p:spPr>
          <a:xfrm>
            <a:off x="600000" y="6350000"/>
            <a:ext cx="11000000" cy="18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00000" y="6420000"/>
            <a:ext cx="300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800" spc="70">
                <a:solidFill>
                  <a:srgbClr val="B91C8C"/>
                </a:solidFill>
                <a:latin typeface="Segoe Sans Display"/>
              </a:rPr>
              <a:t>FICTIONAL DEMONSTRATION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00000" y="6420000"/>
            <a:ext cx="274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800">
                <a:solidFill>
                  <a:srgbClr val="4B5563"/>
                </a:solidFill>
                <a:latin typeface="Segoe Sans Display"/>
              </a:rPr>
              <a:t>FICTIONAL CUSTOMER READOUT</a:t>
            </a:r>
          </a:p>
        </p:txBody>
      </p:sp>
      <p:sp>
        <p:nvSpPr>
          <p:cNvPr id="9" name="Shape 9"/>
          <p:cNvSpPr/>
          <p:nvPr/>
        </p:nvSpPr>
        <p:spPr>
          <a:xfrm>
            <a:off x="600000" y="1650000"/>
            <a:ext cx="3300000" cy="3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0" name="Shape 10"/>
          <p:cNvSpPr/>
          <p:nvPr/>
        </p:nvSpPr>
        <p:spPr>
          <a:xfrm>
            <a:off x="900000" y="1930000"/>
            <a:ext cx="520000" cy="520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r>
              <a:rPr b="1" sz="1500">
                <a:solidFill>
                  <a:srgbClr val="FFFFFF"/>
                </a:solidFill>
                <a:latin typeface="Segoe Sans Display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0000" y="2640000"/>
            <a:ext cx="2700000" cy="8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900">
                <a:solidFill>
                  <a:srgbClr val="0B1020"/>
                </a:solidFill>
                <a:latin typeface="Segoe Sans Display"/>
              </a:rPr>
              <a:t>Context is split across three systems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0000" y="3610000"/>
            <a:ext cx="2700000" cy="11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300">
                <a:solidFill>
                  <a:srgbClr val="4B5563"/>
                </a:solidFill>
                <a:latin typeface="Segoe Sans Display"/>
              </a:rPr>
              <a:t>Dispatchers copy shipment data before routing. The basis for a decision is difficult to audit.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0000" y="5070000"/>
            <a:ext cx="160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2563EB"/>
                </a:solidFill>
                <a:latin typeface="Segoe Sans Display"/>
              </a:rPr>
              <a:t>[workflow-001]</a:t>
            </a:r>
          </a:p>
        </p:txBody>
      </p:sp>
      <p:sp>
        <p:nvSpPr>
          <p:cNvPr id="14" name="Shape 14"/>
          <p:cNvSpPr/>
          <p:nvPr/>
        </p:nvSpPr>
        <p:spPr>
          <a:xfrm>
            <a:off x="4450000" y="1650000"/>
            <a:ext cx="3300000" cy="3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5" name="Shape 15"/>
          <p:cNvSpPr/>
          <p:nvPr/>
        </p:nvSpPr>
        <p:spPr>
          <a:xfrm>
            <a:off x="4750000" y="1930000"/>
            <a:ext cx="520000" cy="520000"/>
          </a:xfrm>
          <a:prstGeom prst="ellipse">
            <a:avLst/>
          </a:prstGeom>
          <a:solidFill>
            <a:srgbClr val="D92D20"/>
          </a:solidFill>
          <a:ln>
            <a:noFill/>
          </a:ln>
        </p:spPr>
        <p:txBody>
          <a:bodyPr rtlCol="0" anchor="ctr"/>
          <a:lstStyle/>
          <a:p>
            <a:r>
              <a:rPr b="1" sz="1500">
                <a:solidFill>
                  <a:srgbClr val="FFFFFF"/>
                </a:solidFill>
                <a:latin typeface="Segoe Sans Display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50000" y="2640000"/>
            <a:ext cx="2700000" cy="8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900">
                <a:solidFill>
                  <a:srgbClr val="0B1020"/>
                </a:solidFill>
                <a:latin typeface="Segoe Sans Display"/>
              </a:rPr>
              <a:t>One in five fictional cases is reclassified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50000" y="3610000"/>
            <a:ext cx="2700000" cy="11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300">
                <a:solidFill>
                  <a:srgbClr val="4B5563"/>
                </a:solidFill>
                <a:latin typeface="Segoe Sans Display"/>
              </a:rPr>
              <a:t>Repeated classification adds dispatcher work and may start recovery in the wrong queue.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50000" y="5070000"/>
            <a:ext cx="160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D92D20"/>
                </a:solidFill>
                <a:latin typeface="Segoe Sans Display"/>
              </a:rPr>
              <a:t>[baseline-001]</a:t>
            </a:r>
          </a:p>
        </p:txBody>
      </p:sp>
      <p:sp>
        <p:nvSpPr>
          <p:cNvPr id="19" name="Shape 19"/>
          <p:cNvSpPr/>
          <p:nvPr/>
        </p:nvSpPr>
        <p:spPr>
          <a:xfrm>
            <a:off x="8300000" y="1650000"/>
            <a:ext cx="3300000" cy="3900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Shape 20"/>
          <p:cNvSpPr/>
          <p:nvPr/>
        </p:nvSpPr>
        <p:spPr>
          <a:xfrm>
            <a:off x="8600000" y="1930000"/>
            <a:ext cx="520000" cy="520000"/>
          </a:xfrm>
          <a:prstGeom prst="ellipse">
            <a:avLst/>
          </a:prstGeom>
          <a:solidFill>
            <a:srgbClr val="B91C8C"/>
          </a:solidFill>
          <a:ln>
            <a:noFill/>
          </a:ln>
        </p:spPr>
        <p:txBody>
          <a:bodyPr rtlCol="0" anchor="ctr"/>
          <a:lstStyle/>
          <a:p>
            <a:r>
              <a:rPr b="1" sz="1500">
                <a:solidFill>
                  <a:srgbClr val="0B1020"/>
                </a:solidFill>
                <a:latin typeface="Segoe Sans Display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00000" y="2640000"/>
            <a:ext cx="2700000" cy="8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900">
                <a:solidFill>
                  <a:srgbClr val="FFFFFF"/>
                </a:solidFill>
                <a:latin typeface="Segoe Sans Display"/>
              </a:rPr>
              <a:t>Routing and commitment are different authorities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00000" y="3610000"/>
            <a:ext cx="2700000" cy="11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Segoe Sans Display"/>
              </a:rPr>
              <a:t>The pilot may recommend a queue. It may not commit an ETA or waive a fee.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00000" y="5070000"/>
            <a:ext cx="160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B91C8C"/>
                </a:solidFill>
                <a:latin typeface="Segoe Sans Display"/>
              </a:rPr>
              <a:t>[authority-001]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1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600000" y="360000"/>
            <a:ext cx="26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000" spc="200">
                <a:solidFill>
                  <a:srgbClr val="B91C8C"/>
                </a:solidFill>
                <a:latin typeface="Segoe Sans Display"/>
              </a:rPr>
              <a:t>TARGET MODEL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00" y="760000"/>
            <a:ext cx="11000000" cy="7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800">
                <a:solidFill>
                  <a:srgbClr val="0B1020"/>
                </a:solidFill>
                <a:latin typeface="Segoe Sans Display"/>
              </a:rPr>
              <a:t>The pilot separates retrieval, recommendation, and authority</a:t>
            </a:r>
          </a:p>
        </p:txBody>
      </p:sp>
      <p:sp>
        <p:nvSpPr>
          <p:cNvPr id="6" name="Shape 6"/>
          <p:cNvSpPr/>
          <p:nvPr/>
        </p:nvSpPr>
        <p:spPr>
          <a:xfrm>
            <a:off x="600000" y="6350000"/>
            <a:ext cx="11000000" cy="18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00000" y="6420000"/>
            <a:ext cx="300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800" spc="70">
                <a:solidFill>
                  <a:srgbClr val="B91C8C"/>
                </a:solidFill>
                <a:latin typeface="Segoe Sans Display"/>
              </a:rPr>
              <a:t>FICTIONAL DEMONSTRATION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00000" y="6420000"/>
            <a:ext cx="274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800">
                <a:solidFill>
                  <a:srgbClr val="4B5563"/>
                </a:solidFill>
                <a:latin typeface="Segoe Sans Display"/>
              </a:rPr>
              <a:t>FICTIONAL CUSTOMER READOUT</a:t>
            </a:r>
          </a:p>
        </p:txBody>
      </p:sp>
      <p:sp>
        <p:nvSpPr>
          <p:cNvPr id="9" name="Shape 9"/>
          <p:cNvSpPr/>
          <p:nvPr/>
        </p:nvSpPr>
        <p:spPr>
          <a:xfrm>
            <a:off x="600000" y="1800000"/>
            <a:ext cx="3200000" cy="1750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950000" y="2070000"/>
            <a:ext cx="25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2563EB"/>
                </a:solidFill>
                <a:latin typeface="Segoe Sans Display"/>
              </a:rPr>
              <a:t>DETERMINISTIC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0000" y="2500000"/>
            <a:ext cx="2500000" cy="67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>
                <a:solidFill>
                  <a:srgbClr val="0B1020"/>
                </a:solidFill>
                <a:latin typeface="Segoe Sans Display"/>
              </a:rPr>
              <a:t>Retrieve authorized shipment and message context</a:t>
            </a:r>
          </a:p>
        </p:txBody>
      </p:sp>
      <p:sp>
        <p:nvSpPr>
          <p:cNvPr id="12" name="Shape 12"/>
          <p:cNvSpPr/>
          <p:nvPr/>
        </p:nvSpPr>
        <p:spPr>
          <a:xfrm>
            <a:off x="4000000" y="2390000"/>
            <a:ext cx="700000" cy="5000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Shape 13"/>
          <p:cNvSpPr/>
          <p:nvPr/>
        </p:nvSpPr>
        <p:spPr>
          <a:xfrm>
            <a:off x="4800000" y="1800000"/>
            <a:ext cx="3200000" cy="175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5150000" y="2070000"/>
            <a:ext cx="25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F3F4F6"/>
                </a:solidFill>
                <a:latin typeface="Segoe Sans Display"/>
              </a:rPr>
              <a:t>MODEL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50000" y="2500000"/>
            <a:ext cx="2500000" cy="67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>
                <a:solidFill>
                  <a:srgbClr val="FFFFFF"/>
                </a:solidFill>
                <a:latin typeface="Segoe Sans Display"/>
              </a:rPr>
              <a:t>Recommend one queue and cite the supporting context</a:t>
            </a:r>
          </a:p>
        </p:txBody>
      </p:sp>
      <p:sp>
        <p:nvSpPr>
          <p:cNvPr id="16" name="Shape 16"/>
          <p:cNvSpPr/>
          <p:nvPr/>
        </p:nvSpPr>
        <p:spPr>
          <a:xfrm>
            <a:off x="8200000" y="2390000"/>
            <a:ext cx="700000" cy="500000"/>
          </a:xfrm>
          <a:prstGeom prst="rightArrow">
            <a:avLst/>
          </a:prstGeom>
          <a:solidFill>
            <a:srgbClr val="D92D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Shape 17"/>
          <p:cNvSpPr/>
          <p:nvPr/>
        </p:nvSpPr>
        <p:spPr>
          <a:xfrm>
            <a:off x="9000000" y="1800000"/>
            <a:ext cx="2600000" cy="1750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9350000" y="2070000"/>
            <a:ext cx="19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B91C8C"/>
                </a:solidFill>
                <a:latin typeface="Segoe Sans Display"/>
              </a:rPr>
              <a:t>HUMAN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50000" y="2500000"/>
            <a:ext cx="1900000" cy="67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>
                <a:solidFill>
                  <a:srgbClr val="FFFFFF"/>
                </a:solidFill>
                <a:latin typeface="Segoe Sans Display"/>
              </a:rPr>
              <a:t>Review evidence and confirm or reject</a:t>
            </a:r>
          </a:p>
        </p:txBody>
      </p:sp>
      <p:sp>
        <p:nvSpPr>
          <p:cNvPr id="20" name="Shape 20"/>
          <p:cNvSpPr/>
          <p:nvPr/>
        </p:nvSpPr>
        <p:spPr>
          <a:xfrm>
            <a:off x="600000" y="3950000"/>
            <a:ext cx="11000000" cy="900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900000" y="4160000"/>
            <a:ext cx="10300000" cy="4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500">
                <a:solidFill>
                  <a:srgbClr val="7F1D1D"/>
                </a:solidFill>
                <a:latin typeface="Segoe Sans Display"/>
              </a:rPr>
              <a:t>OUTSIDE PILOT AUTHORITY  |  Customer ETA commitments and detention-fee waivers remain duty-manager decisions.</a:t>
            </a:r>
          </a:p>
        </p:txBody>
      </p:sp>
      <p:sp>
        <p:nvSpPr>
          <p:cNvPr id="22" name="Shape 22"/>
          <p:cNvSpPr/>
          <p:nvPr/>
        </p:nvSpPr>
        <p:spPr>
          <a:xfrm>
            <a:off x="600000" y="5100000"/>
            <a:ext cx="11000000" cy="620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900000" y="5260000"/>
            <a:ext cx="103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200">
                <a:solidFill>
                  <a:srgbClr val="1B1A19"/>
                </a:solidFill>
                <a:latin typeface="Segoe Sans Display"/>
              </a:rPr>
              <a:t>Invariant: the system writes a recommendation and rationale only. [authority-001] [build-001]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1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600000" y="360000"/>
            <a:ext cx="26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000" spc="200">
                <a:solidFill>
                  <a:srgbClr val="B91C8C"/>
                </a:solidFill>
                <a:latin typeface="Segoe Sans Display"/>
              </a:rPr>
              <a:t>EVALUATION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00" y="760000"/>
            <a:ext cx="11000000" cy="7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800">
                <a:solidFill>
                  <a:srgbClr val="0B1020"/>
                </a:solidFill>
                <a:latin typeface="Segoe Sans Display"/>
              </a:rPr>
              <a:t>Offline evaluation supports supervised use, not autonomy</a:t>
            </a:r>
          </a:p>
        </p:txBody>
      </p:sp>
      <p:sp>
        <p:nvSpPr>
          <p:cNvPr id="6" name="Shape 6"/>
          <p:cNvSpPr/>
          <p:nvPr/>
        </p:nvSpPr>
        <p:spPr>
          <a:xfrm>
            <a:off x="600000" y="6350000"/>
            <a:ext cx="11000000" cy="18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00000" y="6420000"/>
            <a:ext cx="300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800" spc="70">
                <a:solidFill>
                  <a:srgbClr val="B91C8C"/>
                </a:solidFill>
                <a:latin typeface="Segoe Sans Display"/>
              </a:rPr>
              <a:t>FICTIONAL DEMONSTRATION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00000" y="6420000"/>
            <a:ext cx="274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800">
                <a:solidFill>
                  <a:srgbClr val="4B5563"/>
                </a:solidFill>
                <a:latin typeface="Segoe Sans Display"/>
              </a:rPr>
              <a:t>FICTIONAL CUSTOMER READOUT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0000" y="1560000"/>
            <a:ext cx="25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4B5563"/>
                </a:solidFill>
                <a:latin typeface="Segoe Sans Display"/>
              </a:rPr>
              <a:t>COHORT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00000" y="1560000"/>
            <a:ext cx="50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4B5563"/>
                </a:solidFill>
                <a:latin typeface="Segoe Sans Display"/>
              </a:rPr>
              <a:t>EXPECTED CONTROL</a:t>
            </a:r>
          </a:p>
        </p:txBody>
      </p:sp>
      <p:sp>
        <p:nvSpPr>
          <p:cNvPr id="11" name="Shape 11"/>
          <p:cNvSpPr/>
          <p:nvPr/>
        </p:nvSpPr>
        <p:spPr>
          <a:xfrm>
            <a:off x="600000" y="1950000"/>
            <a:ext cx="11000000" cy="5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r>
              <a:rPr b="1" sz="1400">
                <a:solidFill>
                  <a:srgbClr val="1B1A19"/>
                </a:solidFill>
                <a:latin typeface="Segoe Sans Display"/>
              </a:rPr>
              <a:t/>
            </a:r>
          </a:p>
        </p:txBody>
      </p:sp>
      <p:sp>
        <p:nvSpPr>
          <p:cNvPr id="12" name="Shape 12"/>
          <p:cNvSpPr/>
          <p:nvPr/>
        </p:nvSpPr>
        <p:spPr>
          <a:xfrm>
            <a:off x="600000" y="2670000"/>
            <a:ext cx="11000000" cy="5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r>
              <a:rPr b="1" sz="1400">
                <a:solidFill>
                  <a:srgbClr val="1B1A19"/>
                </a:solidFill>
                <a:latin typeface="Segoe Sans Display"/>
              </a:rPr>
              <a:t/>
            </a:r>
          </a:p>
        </p:txBody>
      </p:sp>
      <p:sp>
        <p:nvSpPr>
          <p:cNvPr id="13" name="Shape 13"/>
          <p:cNvSpPr/>
          <p:nvPr/>
        </p:nvSpPr>
        <p:spPr>
          <a:xfrm>
            <a:off x="600000" y="3390000"/>
            <a:ext cx="11000000" cy="570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r>
              <a:rPr b="1" sz="1400">
                <a:solidFill>
                  <a:srgbClr val="0B1020"/>
                </a:solidFill>
                <a:latin typeface="Segoe Sans Display"/>
              </a:rPr>
              <a:t/>
            </a:r>
          </a:p>
        </p:txBody>
      </p:sp>
      <p:sp>
        <p:nvSpPr>
          <p:cNvPr id="14" name="Shape 14"/>
          <p:cNvSpPr/>
          <p:nvPr/>
        </p:nvSpPr>
        <p:spPr>
          <a:xfrm>
            <a:off x="600000" y="4110000"/>
            <a:ext cx="11000000" cy="570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r>
              <a:rPr b="1" sz="1400">
                <a:solidFill>
                  <a:srgbClr val="0B1020"/>
                </a:solidFill>
                <a:latin typeface="Segoe Sans Display"/>
              </a:rPr>
              <a:t/>
            </a:r>
          </a:p>
        </p:txBody>
      </p:sp>
      <p:sp>
        <p:nvSpPr>
          <p:cNvPr id="15" name="Shape 15"/>
          <p:cNvSpPr/>
          <p:nvPr/>
        </p:nvSpPr>
        <p:spPr>
          <a:xfrm>
            <a:off x="600000" y="4830000"/>
            <a:ext cx="11000000" cy="570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r>
              <a:rPr b="1" sz="1400">
                <a:solidFill>
                  <a:srgbClr val="7F1D1D"/>
                </a:solidFill>
                <a:latin typeface="Segoe Sans Display"/>
              </a:rPr>
              <a:t/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0000" y="5670000"/>
            <a:ext cx="10800000" cy="39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300">
                <a:solidFill>
                  <a:srgbClr val="2563EB"/>
                </a:solidFill>
                <a:latin typeface="Segoe Sans Display"/>
              </a:rPr>
              <a:t>Release implication: proceed to supervised recommendations; do not increase autonomy. [eval-001]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0000" y="2110000"/>
            <a:ext cx="160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100">
                <a:solidFill>
                  <a:srgbClr val="0B1020"/>
                </a:solidFill>
                <a:latin typeface="Segoe Sans Display"/>
              </a:rPr>
              <a:t>NORMAL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00000" y="2110000"/>
            <a:ext cx="590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100">
                <a:solidFill>
                  <a:srgbClr val="4B5563"/>
                </a:solidFill>
                <a:latin typeface="Segoe Sans Display"/>
              </a:rPr>
              <a:t>Expected queue + cited evidence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00000" y="2110000"/>
            <a:ext cx="95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100">
                <a:solidFill>
                  <a:srgbClr val="2563EB"/>
                </a:solidFill>
                <a:latin typeface="Segoe Sans Display"/>
              </a:rPr>
              <a:t>PASS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0000" y="2830000"/>
            <a:ext cx="160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100">
                <a:solidFill>
                  <a:srgbClr val="0B1020"/>
                </a:solidFill>
                <a:latin typeface="Segoe Sans Display"/>
              </a:rPr>
              <a:t>EDGE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00000" y="2830000"/>
            <a:ext cx="590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100">
                <a:solidFill>
                  <a:srgbClr val="4B5563"/>
                </a:solidFill>
                <a:latin typeface="Segoe Sans Display"/>
              </a:rPr>
              <a:t>Rare valid queue preserved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00000" y="2830000"/>
            <a:ext cx="95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100">
                <a:solidFill>
                  <a:srgbClr val="2563EB"/>
                </a:solidFill>
                <a:latin typeface="Segoe Sans Display"/>
              </a:rPr>
              <a:t>PASS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000" y="3550000"/>
            <a:ext cx="160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100">
                <a:solidFill>
                  <a:srgbClr val="0B1020"/>
                </a:solidFill>
                <a:latin typeface="Segoe Sans Display"/>
              </a:rPr>
              <a:t>INCOMPLETE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00000" y="3550000"/>
            <a:ext cx="590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100">
                <a:solidFill>
                  <a:srgbClr val="4B5563"/>
                </a:solidFill>
                <a:latin typeface="Segoe Sans Display"/>
              </a:rPr>
              <a:t>Missing source named; no recommendation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00000" y="3550000"/>
            <a:ext cx="105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2563EB"/>
                </a:solidFill>
                <a:latin typeface="Segoe Sans Display"/>
              </a:rPr>
              <a:t>ESCALATE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0000" y="4270000"/>
            <a:ext cx="160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100">
                <a:solidFill>
                  <a:srgbClr val="0B1020"/>
                </a:solidFill>
                <a:latin typeface="Segoe Sans Display"/>
              </a:rPr>
              <a:t>AMBIGUOUS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000000" y="4270000"/>
            <a:ext cx="590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100">
                <a:solidFill>
                  <a:srgbClr val="4B5563"/>
                </a:solidFill>
                <a:latin typeface="Segoe Sans Display"/>
              </a:rPr>
              <a:t>Source conflict shown to dispatcher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00000" y="4270000"/>
            <a:ext cx="105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2563EB"/>
                </a:solidFill>
                <a:latin typeface="Segoe Sans Display"/>
              </a:rPr>
              <a:t>ESCALATE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00000" y="4990000"/>
            <a:ext cx="160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100">
                <a:solidFill>
                  <a:srgbClr val="7F1D1D"/>
                </a:solidFill>
                <a:latin typeface="Segoe Sans Display"/>
              </a:rPr>
              <a:t>HIGH-RISK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000000" y="4990000"/>
            <a:ext cx="590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100">
                <a:solidFill>
                  <a:srgbClr val="7F1D1D"/>
                </a:solidFill>
                <a:latin typeface="Segoe Sans Display"/>
              </a:rPr>
              <a:t>Commitment refused; duty-manager route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00000" y="4990000"/>
            <a:ext cx="1050000" cy="2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D92D20"/>
                </a:solidFill>
                <a:latin typeface="Segoe Sans Display"/>
              </a:rPr>
              <a:t>ESCALATE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1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600000" y="360000"/>
            <a:ext cx="26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000" spc="200">
                <a:solidFill>
                  <a:srgbClr val="B91C8C"/>
                </a:solidFill>
                <a:latin typeface="Segoe Sans Display"/>
              </a:rPr>
              <a:t>RISK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00" y="760000"/>
            <a:ext cx="11000000" cy="7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800">
                <a:solidFill>
                  <a:srgbClr val="0B1020"/>
                </a:solidFill>
                <a:latin typeface="Segoe Sans Display"/>
              </a:rPr>
              <a:t>The pilot contains the two highest-consequence risks</a:t>
            </a:r>
          </a:p>
        </p:txBody>
      </p:sp>
      <p:sp>
        <p:nvSpPr>
          <p:cNvPr id="6" name="Shape 6"/>
          <p:cNvSpPr/>
          <p:nvPr/>
        </p:nvSpPr>
        <p:spPr>
          <a:xfrm>
            <a:off x="600000" y="6350000"/>
            <a:ext cx="11000000" cy="18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00000" y="6420000"/>
            <a:ext cx="300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800" spc="70">
                <a:solidFill>
                  <a:srgbClr val="B91C8C"/>
                </a:solidFill>
                <a:latin typeface="Segoe Sans Display"/>
              </a:rPr>
              <a:t>FICTIONAL DEMONSTRATION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00000" y="6420000"/>
            <a:ext cx="274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800">
                <a:solidFill>
                  <a:srgbClr val="4B5563"/>
                </a:solidFill>
                <a:latin typeface="Segoe Sans Display"/>
              </a:rPr>
              <a:t>FICTIONAL CUSTOMER READOUT</a:t>
            </a:r>
          </a:p>
        </p:txBody>
      </p:sp>
      <p:sp>
        <p:nvSpPr>
          <p:cNvPr id="9" name="Shape 9"/>
          <p:cNvSpPr/>
          <p:nvPr/>
        </p:nvSpPr>
        <p:spPr>
          <a:xfrm>
            <a:off x="600000" y="1700000"/>
            <a:ext cx="5300000" cy="33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0" name="Shape 10"/>
          <p:cNvSpPr/>
          <p:nvPr/>
        </p:nvSpPr>
        <p:spPr>
          <a:xfrm>
            <a:off x="600000" y="1700000"/>
            <a:ext cx="90000" cy="3350000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950000" y="1980000"/>
            <a:ext cx="4550000" cy="5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000">
                <a:solidFill>
                  <a:srgbClr val="0B1020"/>
                </a:solidFill>
                <a:latin typeface="Segoe Sans Display"/>
              </a:rPr>
              <a:t>Wrong queue recommendation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0000" y="2700000"/>
            <a:ext cx="4550000" cy="14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2563EB"/>
                </a:solidFill>
                <a:latin typeface="Segoe Sans Display"/>
              </a:rPr>
              <a:t>Impact</a:t>
            </a:r>
          </a:p>
          <a:p>
            <a:r>
              <a:rPr sz="1400">
                <a:solidFill>
                  <a:srgbClr val="4B5563"/>
                </a:solidFill>
                <a:latin typeface="Segoe Sans Display"/>
              </a:rPr>
              <a:t>Recovery starts in the wrong team.</a:t>
            </a:r>
          </a:p>
          <a:p>
            <a:r>
              <a:rPr b="1" sz="1000">
                <a:solidFill>
                  <a:srgbClr val="2563EB"/>
                </a:solidFill>
                <a:latin typeface="Segoe Sans Display"/>
              </a:rPr>
              <a:t>Control</a:t>
            </a:r>
          </a:p>
          <a:p>
            <a:r>
              <a:rPr sz="1400">
                <a:solidFill>
                  <a:srgbClr val="4B5563"/>
                </a:solidFill>
                <a:latin typeface="Segoe Sans Display"/>
              </a:rPr>
              <a:t>Dispatcher confirms every recommendation; manual routing remains available.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0000" y="4540000"/>
            <a:ext cx="43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i="1" sz="1100">
                <a:solidFill>
                  <a:srgbClr val="D92D20"/>
                </a:solidFill>
                <a:latin typeface="Segoe Sans Display"/>
              </a:rPr>
              <a:t>Residual: dispatcher review still takes time.</a:t>
            </a:r>
          </a:p>
        </p:txBody>
      </p:sp>
      <p:sp>
        <p:nvSpPr>
          <p:cNvPr id="14" name="Shape 14"/>
          <p:cNvSpPr/>
          <p:nvPr/>
        </p:nvSpPr>
        <p:spPr>
          <a:xfrm>
            <a:off x="6300000" y="1700000"/>
            <a:ext cx="5300000" cy="3350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Shape 15"/>
          <p:cNvSpPr/>
          <p:nvPr/>
        </p:nvSpPr>
        <p:spPr>
          <a:xfrm>
            <a:off x="6300000" y="1700000"/>
            <a:ext cx="90000" cy="3350000"/>
          </a:xfrm>
          <a:prstGeom prst="rect">
            <a:avLst/>
          </a:prstGeom>
          <a:solidFill>
            <a:srgbClr val="B91C8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6650000" y="1980000"/>
            <a:ext cx="4550000" cy="5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000">
                <a:solidFill>
                  <a:srgbClr val="FFFFFF"/>
                </a:solidFill>
                <a:latin typeface="Segoe Sans Display"/>
              </a:rPr>
              <a:t>Authority boundary is crossed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50000" y="2700000"/>
            <a:ext cx="4550000" cy="14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B91C8C"/>
                </a:solidFill>
                <a:latin typeface="Segoe Sans Display"/>
              </a:rPr>
              <a:t>Impact</a:t>
            </a:r>
          </a:p>
          <a:p>
            <a:r>
              <a:rPr sz="1400">
                <a:solidFill>
                  <a:srgbClr val="E5E7EB"/>
                </a:solidFill>
                <a:latin typeface="Segoe Sans Display"/>
              </a:rPr>
              <a:t>Unauthorized customer or financial commitment.</a:t>
            </a:r>
          </a:p>
          <a:p>
            <a:r>
              <a:rPr b="1" sz="1000">
                <a:solidFill>
                  <a:srgbClr val="B91C8C"/>
                </a:solidFill>
                <a:latin typeface="Segoe Sans Display"/>
              </a:rPr>
              <a:t>Control</a:t>
            </a:r>
          </a:p>
          <a:p>
            <a:r>
              <a:rPr sz="1400">
                <a:solidFill>
                  <a:srgbClr val="E5E7EB"/>
                </a:solidFill>
                <a:latin typeface="Segoe Sans Display"/>
              </a:rPr>
              <a:t>No customer-communication or fee-waiver tool; duty-manager escalation.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50000" y="4540000"/>
            <a:ext cx="43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i="1" sz="1100">
                <a:solidFill>
                  <a:srgbClr val="9CA3AF"/>
                </a:solidFill>
                <a:latin typeface="Segoe Sans Display"/>
              </a:rPr>
              <a:t>Residual: separate manual commitments remain possible.</a:t>
            </a:r>
          </a:p>
        </p:txBody>
      </p:sp>
      <p:sp>
        <p:nvSpPr>
          <p:cNvPr id="19" name="Shape 19"/>
          <p:cNvSpPr/>
          <p:nvPr/>
        </p:nvSpPr>
        <p:spPr>
          <a:xfrm>
            <a:off x="600000" y="5350000"/>
            <a:ext cx="11000000" cy="620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900000" y="5510000"/>
            <a:ext cx="103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>
                <a:solidFill>
                  <a:srgbClr val="7F1D1D"/>
                </a:solidFill>
                <a:latin typeface="Segoe Sans Display"/>
              </a:rPr>
              <a:t>STOP if an authority breach occurs or a severe routing failure cannot be detected and reversed.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1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600000" y="360000"/>
            <a:ext cx="26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000" spc="200">
                <a:solidFill>
                  <a:srgbClr val="B91C8C"/>
                </a:solidFill>
                <a:latin typeface="Segoe Sans Display"/>
              </a:rPr>
              <a:t>PILOT PLAN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00" y="760000"/>
            <a:ext cx="11000000" cy="7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800">
                <a:solidFill>
                  <a:srgbClr val="0B1020"/>
                </a:solidFill>
                <a:latin typeface="Segoe Sans Display"/>
              </a:rPr>
              <a:t>A four-week plan turns the decision into measured evidence</a:t>
            </a:r>
          </a:p>
        </p:txBody>
      </p:sp>
      <p:sp>
        <p:nvSpPr>
          <p:cNvPr id="6" name="Shape 6"/>
          <p:cNvSpPr/>
          <p:nvPr/>
        </p:nvSpPr>
        <p:spPr>
          <a:xfrm>
            <a:off x="600000" y="6350000"/>
            <a:ext cx="11000000" cy="18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00000" y="6420000"/>
            <a:ext cx="300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800" spc="70">
                <a:solidFill>
                  <a:srgbClr val="B91C8C"/>
                </a:solidFill>
                <a:latin typeface="Segoe Sans Display"/>
              </a:rPr>
              <a:t>FICTIONAL DEMONSTRATION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00000" y="6420000"/>
            <a:ext cx="274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800">
                <a:solidFill>
                  <a:srgbClr val="4B5563"/>
                </a:solidFill>
                <a:latin typeface="Segoe Sans Display"/>
              </a:rPr>
              <a:t>FICTIONAL CUSTOMER READOUT</a:t>
            </a:r>
          </a:p>
        </p:txBody>
      </p:sp>
      <p:sp>
        <p:nvSpPr>
          <p:cNvPr id="9" name="Shape 9"/>
          <p:cNvSpPr/>
          <p:nvPr/>
        </p:nvSpPr>
        <p:spPr>
          <a:xfrm>
            <a:off x="600000" y="1600000"/>
            <a:ext cx="3500000" cy="13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1C8C"/>
            </a:solidFill>
          </a:ln>
        </p:spPr>
        <p:txBody>
          <a:bodyPr rtlCol="0"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900000" y="1840000"/>
            <a:ext cx="2900000" cy="2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B91C8C"/>
                </a:solidFill>
                <a:latin typeface="Segoe Sans Display"/>
              </a:rPr>
              <a:t>DECISION  |  29 AUG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0000" y="2250000"/>
            <a:ext cx="2900000" cy="47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800">
                <a:solidFill>
                  <a:srgbClr val="0B1020"/>
                </a:solidFill>
                <a:latin typeface="Segoe Sans Display"/>
              </a:rPr>
              <a:t>Approve or reject the supervised pilot</a:t>
            </a:r>
          </a:p>
        </p:txBody>
      </p:sp>
      <p:sp>
        <p:nvSpPr>
          <p:cNvPr id="12" name="Shape 12"/>
          <p:cNvSpPr/>
          <p:nvPr/>
        </p:nvSpPr>
        <p:spPr>
          <a:xfrm>
            <a:off x="4300000" y="1600000"/>
            <a:ext cx="7300000" cy="1300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4650000" y="1840000"/>
            <a:ext cx="6600000" cy="2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B91C8C"/>
                </a:solidFill>
                <a:latin typeface="Segoe Sans Display"/>
              </a:rPr>
              <a:t>PILOT BOUNDARY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50000" y="2250000"/>
            <a:ext cx="6600000" cy="47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500">
                <a:solidFill>
                  <a:srgbClr val="FFFFFF"/>
                </a:solidFill>
                <a:latin typeface="Segoe Sans Display"/>
              </a:rPr>
              <a:t>Recommendation only  |  dispatcher confirms  |  four weeks  |  feature-flag rollback</a:t>
            </a:r>
          </a:p>
        </p:txBody>
      </p:sp>
      <p:sp>
        <p:nvSpPr>
          <p:cNvPr id="15" name="Shape 15"/>
          <p:cNvSpPr/>
          <p:nvPr/>
        </p:nvSpPr>
        <p:spPr>
          <a:xfrm>
            <a:off x="1425000" y="3900000"/>
            <a:ext cx="9050000" cy="65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Shape 16"/>
          <p:cNvSpPr/>
          <p:nvPr/>
        </p:nvSpPr>
        <p:spPr>
          <a:xfrm>
            <a:off x="1150000" y="3660000"/>
            <a:ext cx="550000" cy="550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r>
              <a:rPr b="1" sz="1400">
                <a:solidFill>
                  <a:srgbClr val="FFFFFF"/>
                </a:solidFill>
                <a:latin typeface="Segoe Sans Display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0000" y="4320000"/>
            <a:ext cx="1650000" cy="8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>
                <a:solidFill>
                  <a:srgbClr val="0B1020"/>
                </a:solidFill>
                <a:latin typeface="Segoe Sans Display"/>
              </a:rPr>
              <a:t>29 AUG</a:t>
            </a:r>
          </a:p>
          <a:p>
            <a:r>
              <a:rPr sz="1200">
                <a:solidFill>
                  <a:srgbClr val="4B5563"/>
                </a:solidFill>
                <a:latin typeface="Segoe Sans Display"/>
              </a:rPr>
              <a:t>Pilot decision</a:t>
            </a:r>
          </a:p>
          <a:p>
            <a:r>
              <a:rPr sz="1000">
                <a:solidFill>
                  <a:srgbClr val="4B5563"/>
                </a:solidFill>
                <a:latin typeface="Segoe Sans Display"/>
              </a:rPr>
              <a:t>VP Network Operations</a:t>
            </a:r>
          </a:p>
        </p:txBody>
      </p:sp>
      <p:sp>
        <p:nvSpPr>
          <p:cNvPr id="18" name="Shape 18"/>
          <p:cNvSpPr/>
          <p:nvPr/>
        </p:nvSpPr>
        <p:spPr>
          <a:xfrm>
            <a:off x="4200000" y="3660000"/>
            <a:ext cx="550000" cy="550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r>
              <a:rPr b="1" sz="1400">
                <a:solidFill>
                  <a:srgbClr val="FFFFFF"/>
                </a:solidFill>
                <a:latin typeface="Segoe Sans Display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650000" y="4320000"/>
            <a:ext cx="2200000" cy="8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>
                <a:solidFill>
                  <a:srgbClr val="0B1020"/>
                </a:solidFill>
                <a:latin typeface="Segoe Sans Display"/>
              </a:rPr>
              <a:t>05 SEP</a:t>
            </a:r>
          </a:p>
          <a:p>
            <a:r>
              <a:rPr sz="1200">
                <a:solidFill>
                  <a:srgbClr val="4B5563"/>
                </a:solidFill>
                <a:latin typeface="Segoe Sans Display"/>
              </a:rPr>
              <a:t>Measurement dashboard</a:t>
            </a:r>
          </a:p>
          <a:p>
            <a:r>
              <a:rPr sz="1000">
                <a:solidFill>
                  <a:srgbClr val="4B5563"/>
                </a:solidFill>
                <a:latin typeface="Segoe Sans Display"/>
              </a:rPr>
              <a:t>Network Analytics Lead</a:t>
            </a:r>
          </a:p>
        </p:txBody>
      </p:sp>
      <p:sp>
        <p:nvSpPr>
          <p:cNvPr id="20" name="Shape 20"/>
          <p:cNvSpPr/>
          <p:nvPr/>
        </p:nvSpPr>
        <p:spPr>
          <a:xfrm>
            <a:off x="7200000" y="3660000"/>
            <a:ext cx="550000" cy="550000"/>
          </a:xfrm>
          <a:prstGeom prst="ellipse">
            <a:avLst/>
          </a:prstGeom>
          <a:solidFill>
            <a:srgbClr val="B91C8C"/>
          </a:solidFill>
          <a:ln>
            <a:noFill/>
          </a:ln>
        </p:spPr>
        <p:txBody>
          <a:bodyPr rtlCol="0" anchor="ctr"/>
          <a:lstStyle/>
          <a:p>
            <a:r>
              <a:rPr b="1" sz="1400">
                <a:solidFill>
                  <a:srgbClr val="FFFFFF"/>
                </a:solidFill>
                <a:latin typeface="Segoe Sans Display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50000" y="4320000"/>
            <a:ext cx="2200000" cy="8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>
                <a:solidFill>
                  <a:srgbClr val="0B1020"/>
                </a:solidFill>
                <a:latin typeface="Segoe Sans Display"/>
              </a:rPr>
              <a:t>08 SEP</a:t>
            </a:r>
          </a:p>
          <a:p>
            <a:r>
              <a:rPr sz="1200">
                <a:solidFill>
                  <a:srgbClr val="4B5563"/>
                </a:solidFill>
                <a:latin typeface="Segoe Sans Display"/>
              </a:rPr>
              <a:t>Pilot setup ready</a:t>
            </a:r>
          </a:p>
          <a:p>
            <a:r>
              <a:rPr sz="1000">
                <a:solidFill>
                  <a:srgbClr val="4B5563"/>
                </a:solidFill>
                <a:latin typeface="Segoe Sans Display"/>
              </a:rPr>
              <a:t>Operations Systems</a:t>
            </a:r>
          </a:p>
        </p:txBody>
      </p:sp>
      <p:sp>
        <p:nvSpPr>
          <p:cNvPr id="22" name="Shape 22"/>
          <p:cNvSpPr/>
          <p:nvPr/>
        </p:nvSpPr>
        <p:spPr>
          <a:xfrm>
            <a:off x="10200000" y="3660000"/>
            <a:ext cx="550000" cy="550000"/>
          </a:xfrm>
          <a:prstGeom prst="ellipse">
            <a:avLst/>
          </a:prstGeom>
          <a:solidFill>
            <a:srgbClr val="0B1020"/>
          </a:solidFill>
          <a:ln>
            <a:noFill/>
          </a:ln>
        </p:spPr>
        <p:txBody>
          <a:bodyPr rtlCol="0" anchor="ctr"/>
          <a:lstStyle/>
          <a:p>
            <a:r>
              <a:rPr b="1" sz="1400">
                <a:solidFill>
                  <a:srgbClr val="FFFFFF"/>
                </a:solidFill>
                <a:latin typeface="Segoe Sans Display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700000" y="4320000"/>
            <a:ext cx="1600000" cy="8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>
                <a:solidFill>
                  <a:srgbClr val="0B1020"/>
                </a:solidFill>
                <a:latin typeface="Segoe Sans Display"/>
              </a:rPr>
              <a:t>4 WEEKS</a:t>
            </a:r>
          </a:p>
          <a:p>
            <a:r>
              <a:rPr sz="1200">
                <a:solidFill>
                  <a:srgbClr val="4B5563"/>
                </a:solidFill>
                <a:latin typeface="Segoe Sans Display"/>
              </a:rPr>
              <a:t>Measure</a:t>
            </a:r>
          </a:p>
          <a:p>
            <a:r>
              <a:rPr sz="1200">
                <a:solidFill>
                  <a:srgbClr val="4B5563"/>
                </a:solidFill>
                <a:latin typeface="Segoe Sans Display"/>
              </a:rPr>
              <a:t>Decide</a:t>
            </a:r>
          </a:p>
        </p:txBody>
      </p:sp>
      <p:sp>
        <p:nvSpPr>
          <p:cNvPr id="24" name="Shape 24"/>
          <p:cNvSpPr/>
          <p:nvPr/>
        </p:nvSpPr>
        <p:spPr>
          <a:xfrm>
            <a:off x="600000" y="5480000"/>
            <a:ext cx="11000000" cy="550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r>
              <a:rPr b="1" sz="1200">
                <a:solidFill>
                  <a:srgbClr val="0B1020"/>
                </a:solidFill>
                <a:latin typeface="Segoe Sans Display"/>
              </a:rPr>
              <a:t>Continue only if routing reaches ≤20 min median and ≤10% reclassification with no authority breach.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1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600000" y="360000"/>
            <a:ext cx="26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000" spc="200">
                <a:solidFill>
                  <a:srgbClr val="B91C8C"/>
                </a:solidFill>
                <a:latin typeface="Segoe Sans Display"/>
              </a:rPr>
              <a:t>EVIDENCE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00" y="760000"/>
            <a:ext cx="11000000" cy="7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800">
                <a:solidFill>
                  <a:srgbClr val="0B1020"/>
                </a:solidFill>
                <a:latin typeface="Segoe Sans Display"/>
              </a:rPr>
              <a:t>Evidence, assumptions, and brand provenance remain visible</a:t>
            </a:r>
          </a:p>
        </p:txBody>
      </p:sp>
      <p:sp>
        <p:nvSpPr>
          <p:cNvPr id="6" name="Shape 6"/>
          <p:cNvSpPr/>
          <p:nvPr/>
        </p:nvSpPr>
        <p:spPr>
          <a:xfrm>
            <a:off x="600000" y="6350000"/>
            <a:ext cx="11000000" cy="18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00000" y="6420000"/>
            <a:ext cx="300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800" spc="70">
                <a:solidFill>
                  <a:srgbClr val="B91C8C"/>
                </a:solidFill>
                <a:latin typeface="Segoe Sans Display"/>
              </a:rPr>
              <a:t>FICTIONAL DEMONSTRATION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00000" y="6420000"/>
            <a:ext cx="274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800">
                <a:solidFill>
                  <a:srgbClr val="4B5563"/>
                </a:solidFill>
                <a:latin typeface="Segoe Sans Display"/>
              </a:rPr>
              <a:t>FICTIONAL CUSTOMER READOUT</a:t>
            </a:r>
          </a:p>
        </p:txBody>
      </p:sp>
      <p:sp>
        <p:nvSpPr>
          <p:cNvPr id="9" name="Shape 9"/>
          <p:cNvSpPr/>
          <p:nvPr/>
        </p:nvSpPr>
        <p:spPr>
          <a:xfrm>
            <a:off x="600000" y="1650000"/>
            <a:ext cx="3400000" cy="3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900000" y="1930000"/>
            <a:ext cx="28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2563EB"/>
                </a:solidFill>
                <a:latin typeface="Segoe Sans Display"/>
              </a:rPr>
              <a:t>APPROVED SOURCE SET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0000" y="2400000"/>
            <a:ext cx="2800000" cy="2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100">
                <a:solidFill>
                  <a:srgbClr val="0B1020"/>
                </a:solidFill>
                <a:latin typeface="Segoe Sans Display"/>
              </a:rPr>
              <a:t>Company</a:t>
            </a:r>
          </a:p>
          <a:p>
            <a:r>
              <a:rPr sz="1100">
                <a:solidFill>
                  <a:srgbClr val="4B5563"/>
                </a:solidFill>
                <a:latin typeface="Segoe Sans Display"/>
              </a:rPr>
              <a:t>[customer-001]</a:t>
            </a:r>
          </a:p>
          <a:p/>
          <a:p>
            <a:r>
              <a:rPr b="1" sz="1100">
                <a:solidFill>
                  <a:srgbClr val="0B1020"/>
                </a:solidFill>
                <a:latin typeface="Segoe Sans Display"/>
              </a:rPr>
              <a:t>Workflow + baseline</a:t>
            </a:r>
          </a:p>
          <a:p>
            <a:r>
              <a:rPr sz="1100">
                <a:solidFill>
                  <a:srgbClr val="4B5563"/>
                </a:solidFill>
                <a:latin typeface="Segoe Sans Display"/>
              </a:rPr>
              <a:t>[workflow-001] [baseline-001]</a:t>
            </a:r>
          </a:p>
          <a:p/>
          <a:p>
            <a:r>
              <a:rPr b="1" sz="1100">
                <a:solidFill>
                  <a:srgbClr val="0B1020"/>
                </a:solidFill>
                <a:latin typeface="Segoe Sans Display"/>
              </a:rPr>
              <a:t>Authority + target</a:t>
            </a:r>
          </a:p>
          <a:p>
            <a:r>
              <a:rPr sz="1100">
                <a:solidFill>
                  <a:srgbClr val="4B5563"/>
                </a:solidFill>
                <a:latin typeface="Segoe Sans Display"/>
              </a:rPr>
              <a:t>[authority-001] [target-001]</a:t>
            </a:r>
          </a:p>
          <a:p/>
          <a:p>
            <a:r>
              <a:rPr b="1" sz="1100">
                <a:solidFill>
                  <a:srgbClr val="0B1020"/>
                </a:solidFill>
                <a:latin typeface="Segoe Sans Display"/>
              </a:rPr>
              <a:t>Build + evaluation</a:t>
            </a:r>
          </a:p>
          <a:p>
            <a:r>
              <a:rPr sz="1100">
                <a:solidFill>
                  <a:srgbClr val="4B5563"/>
                </a:solidFill>
                <a:latin typeface="Segoe Sans Display"/>
              </a:rPr>
              <a:t>[build-001] [eval-001]</a:t>
            </a:r>
          </a:p>
        </p:txBody>
      </p:sp>
      <p:sp>
        <p:nvSpPr>
          <p:cNvPr id="12" name="Shape 12"/>
          <p:cNvSpPr/>
          <p:nvPr/>
        </p:nvSpPr>
        <p:spPr>
          <a:xfrm>
            <a:off x="4400000" y="1650000"/>
            <a:ext cx="3400000" cy="3500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4750000" y="1930000"/>
            <a:ext cx="27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2563EB"/>
                </a:solidFill>
                <a:latin typeface="Segoe Sans Display"/>
              </a:rPr>
              <a:t>FICTIONAL BY DESIGN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50000" y="2440000"/>
            <a:ext cx="2700000" cy="19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400">
                <a:solidFill>
                  <a:srgbClr val="1B1A19"/>
                </a:solidFill>
                <a:latin typeface="Segoe Sans Display"/>
              </a:rPr>
              <a:t>Company</a:t>
            </a:r>
          </a:p>
          <a:p>
            <a:r>
              <a:rPr sz="1400">
                <a:solidFill>
                  <a:srgbClr val="1B1A19"/>
                </a:solidFill>
                <a:latin typeface="Segoe Sans Display"/>
              </a:rPr>
              <a:t>People and systems</a:t>
            </a:r>
          </a:p>
          <a:p>
            <a:r>
              <a:rPr sz="1400">
                <a:solidFill>
                  <a:srgbClr val="1B1A19"/>
                </a:solidFill>
                <a:latin typeface="Segoe Sans Display"/>
              </a:rPr>
              <a:t>Workflow observations</a:t>
            </a:r>
          </a:p>
          <a:p>
            <a:r>
              <a:rPr sz="1400">
                <a:solidFill>
                  <a:srgbClr val="1B1A19"/>
                </a:solidFill>
                <a:latin typeface="Segoe Sans Display"/>
              </a:rPr>
              <a:t>Sample and metrics</a:t>
            </a:r>
          </a:p>
          <a:p>
            <a:r>
              <a:rPr sz="1400">
                <a:solidFill>
                  <a:srgbClr val="1B1A19"/>
                </a:solidFill>
                <a:latin typeface="Segoe Sans Display"/>
              </a:rPr>
              <a:t>Implementation</a:t>
            </a:r>
          </a:p>
          <a:p>
            <a:r>
              <a:rPr sz="1400">
                <a:solidFill>
                  <a:srgbClr val="1B1A19"/>
                </a:solidFill>
                <a:latin typeface="Segoe Sans Display"/>
              </a:rPr>
              <a:t>Evaluation results</a:t>
            </a:r>
          </a:p>
          <a:p>
            <a:r>
              <a:rPr sz="1400">
                <a:solidFill>
                  <a:srgbClr val="1B1A19"/>
                </a:solidFill>
                <a:latin typeface="Segoe Sans Display"/>
              </a:rPr>
              <a:t>Assignments and dates</a:t>
            </a:r>
          </a:p>
        </p:txBody>
      </p:sp>
      <p:sp>
        <p:nvSpPr>
          <p:cNvPr id="15" name="Shape 15"/>
          <p:cNvSpPr/>
          <p:nvPr/>
        </p:nvSpPr>
        <p:spPr>
          <a:xfrm>
            <a:off x="8200000" y="1650000"/>
            <a:ext cx="3400000" cy="3500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8550000" y="1930000"/>
            <a:ext cx="27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B91C8C"/>
                </a:solidFill>
                <a:latin typeface="Segoe Sans Display"/>
              </a:rPr>
              <a:t>ARTIFACT CONTROLS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50000" y="2440000"/>
            <a:ext cx="2700000" cy="19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Segoe Sans Display"/>
              </a:rPr>
              <a:t>Closed source set</a:t>
            </a:r>
          </a:p>
          <a:p>
            <a:r>
              <a:rPr sz="1400">
                <a:solidFill>
                  <a:srgbClr val="FFFFFF"/>
                </a:solidFill>
                <a:latin typeface="Segoe Sans Display"/>
              </a:rPr>
              <a:t>Evidence IDs on claims</a:t>
            </a:r>
          </a:p>
          <a:p>
            <a:r>
              <a:rPr sz="1400">
                <a:solidFill>
                  <a:srgbClr val="FFFFFF"/>
                </a:solidFill>
                <a:latin typeface="Segoe Sans Display"/>
              </a:rPr>
              <a:t>Customer-safe content</a:t>
            </a:r>
          </a:p>
          <a:p>
            <a:r>
              <a:rPr sz="1400">
                <a:solidFill>
                  <a:srgbClr val="FFFFFF"/>
                </a:solidFill>
                <a:latin typeface="Segoe Sans Display"/>
              </a:rPr>
              <a:t>Required footer</a:t>
            </a:r>
          </a:p>
          <a:p>
            <a:r>
              <a:rPr sz="1400">
                <a:solidFill>
                  <a:srgbClr val="FFFFFF"/>
                </a:solidFill>
                <a:latin typeface="Segoe Sans Display"/>
              </a:rPr>
              <a:t>Brand provenance</a:t>
            </a:r>
          </a:p>
          <a:p>
            <a:r>
              <a:rPr sz="1400">
                <a:solidFill>
                  <a:srgbClr val="FFFFFF"/>
                </a:solidFill>
                <a:latin typeface="Segoe Sans Display"/>
              </a:rPr>
              <a:t>No real customer data</a:t>
            </a:r>
          </a:p>
          <a:p>
            <a:r>
              <a:rPr sz="1400">
                <a:solidFill>
                  <a:srgbClr val="FFFFFF"/>
                </a:solidFill>
                <a:latin typeface="Segoe Sans Display"/>
              </a:rPr>
              <a:t>Rendered slide review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0000" y="5350000"/>
            <a:ext cx="2500000" cy="2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60">
                <a:solidFill>
                  <a:srgbClr val="4B5563"/>
                </a:solidFill>
                <a:latin typeface="Segoe Sans Display"/>
              </a:rPr>
              <a:t>BRAND  [brand-001]</a:t>
            </a:r>
          </a:p>
        </p:txBody>
      </p:sp>
      <p:sp>
        <p:nvSpPr>
          <p:cNvPr id="19" name="Shape 19"/>
          <p:cNvSpPr/>
          <p:nvPr/>
        </p:nvSpPr>
        <p:spPr>
          <a:xfrm>
            <a:off x="3200000" y="5320000"/>
            <a:ext cx="850000" cy="340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Shape 20"/>
          <p:cNvSpPr/>
          <p:nvPr/>
        </p:nvSpPr>
        <p:spPr>
          <a:xfrm>
            <a:off x="4250000" y="5320000"/>
            <a:ext cx="850000" cy="34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Shape 21"/>
          <p:cNvSpPr/>
          <p:nvPr/>
        </p:nvSpPr>
        <p:spPr>
          <a:xfrm>
            <a:off x="5300000" y="5320000"/>
            <a:ext cx="850000" cy="340000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Shape 22"/>
          <p:cNvSpPr/>
          <p:nvPr/>
        </p:nvSpPr>
        <p:spPr>
          <a:xfrm>
            <a:off x="6350000" y="5320000"/>
            <a:ext cx="850000" cy="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7600000" y="5350000"/>
            <a:ext cx="3900000" cy="2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900">
                <a:solidFill>
                  <a:srgbClr val="4B5563"/>
                </a:solidFill>
                <a:latin typeface="Segoe Sans Display"/>
              </a:rPr>
              <a:t>Aptos  |  direct · operational · measured</a:t>
            </a:r>
          </a:p>
        </p:txBody>
      </p:sp>
      <p:sp>
        <p:nvSpPr>
          <p:cNvPr id="24" name="Shape 24"/>
          <p:cNvSpPr/>
          <p:nvPr/>
        </p:nvSpPr>
        <p:spPr>
          <a:xfrm>
            <a:off x="600000" y="5850000"/>
            <a:ext cx="11000000" cy="400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r>
              <a:rPr b="1" sz="1100">
                <a:solidFill>
                  <a:srgbClr val="7F1D1D"/>
                </a:solidFill>
                <a:latin typeface="Segoe Sans Display"/>
              </a:rPr>
              <a:t>No real company, customer, operator, system, or metric is represented in this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