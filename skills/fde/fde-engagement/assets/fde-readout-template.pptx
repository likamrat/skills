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Replace every placeholder. State the audience and as-of date. Do not use customer logos or confidential names without approval.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Make this slide understandable without the rest of the deck. Separate measured fact from inference. Do not claim success when the current gate is blocked.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Use the outcome contract. Cite the baseline evidence. Keep non-goals visible so scope expansion is deliberate.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Prefer a diagram generated from the operating map. Preserve exceptions, queues, approvals, and sources of truth. Mark inferred steps.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Every finding needs case-file evidence IDs and confidence. Customer decks include only approved customer-safe findings.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Use the responsibility matrix. Do not call a step automated unless the autonomy and human-control boundary is explicit.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Show failure categories and escalation behavior. Label evidence as offline, shadow, supervised, or production.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Separate technical readiness from user adoption. Include rollback test evidence and the accountable go/no-go owner.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Customer-safe language only in customer decks. Internal decks may include delivery, staffing, and commercial risk.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Use one row per decision or next step. Every row requires evidence IDs. Use Unassigned and Not scheduled when the case file has no explicit assignment. Do not infer ownership from sponsor or operating-owner roles.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Internal leadership slide. Delete it and re-check all notes before producing a customer deck.</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1"/>
          <p:cNvSpPr>
            <a:spLocks noGrp="1"/>
          </p:cNvSpPr>
          <p:nvPr>
            <p:ph type="body" idx="1"/>
          </p:nvPr>
        </p:nvSpPr>
        <p:spPr/>
        <p:txBody>
          <a:bodyPr/>
          <a:lstStyle/>
          <a:p>
            <a:r>
              <a:t>Use an appendix appropriate to the audience. Do not expose restricted evidence or internal-only notes.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2"/>
          <p:cNvSpPr txBox="1"/>
          <p:nvPr/>
        </p:nvSpPr>
        <p:spPr>
          <a:xfrm>
            <a:off x="600000" y="1700000"/>
            <a:ext cx="7940000" cy="900000"/>
          </a:xfrm>
          <a:prstGeom prst="rect">
            <a:avLst/>
          </a:prstGeom>
        </p:spPr>
        <p:txBody>
          <a:bodyPr wrap="square" rtlCol="0">
            <a:spAutoFit/>
          </a:bodyPr>
          <a:lstStyle/>
          <a:p>
            <a:r>
              <a:rPr b="1" sz="3200">
                <a:solidFill>
                  <a:srgbClr val="0B2A5B"/>
                </a:solidFill>
              </a:rPr>
              <a:t>{{ENGAGEMENT NAME}}</a:t>
            </a:r>
          </a:p>
        </p:txBody>
      </p:sp>
      <p:sp>
        <p:nvSpPr>
          <p:cNvPr id="3" name="TextBox 3"/>
          <p:cNvSpPr txBox="1"/>
          <p:nvPr/>
        </p:nvSpPr>
        <p:spPr>
          <a:xfrm>
            <a:off x="600000" y="2850000"/>
            <a:ext cx="7940000" cy="650000"/>
          </a:xfrm>
          <a:prstGeom prst="rect">
            <a:avLst/>
          </a:prstGeom>
        </p:spPr>
        <p:txBody>
          <a:bodyPr wrap="square" rtlCol="0">
            <a:spAutoFit/>
          </a:bodyPr>
          <a:lstStyle/>
          <a:p>
            <a:r>
              <a:rPr sz="1800">
                <a:solidFill>
                  <a:srgbClr val="4B5563"/>
                </a:solidFill>
              </a:rPr>
              <a:t>{{CUSTOMER OR INTERNAL AUDIENCE}} | {{AS-OF DATE}}</a:t>
            </a:r>
          </a:p>
        </p:txBody>
      </p:sp>
      <p:sp>
        <p:nvSpPr>
          <p:cNvPr id="4" name="TextBox 4"/>
          <p:cNvSpPr txBox="1"/>
          <p:nvPr/>
        </p:nvSpPr>
        <p:spPr>
          <a:xfrm>
            <a:off x="600000" y="6100000"/>
            <a:ext cx="7940000" cy="300000"/>
          </a:xfrm>
          <a:prstGeom prst="rect">
            <a:avLst/>
          </a:prstGeom>
        </p:spPr>
        <p:txBody>
          <a:bodyPr wrap="square" rtlCol="0">
            <a:spAutoFit/>
          </a:bodyPr>
          <a:lstStyle/>
          <a:p>
            <a:r>
              <a:rPr sz="1000">
                <a:solidFill>
                  <a:srgbClr val="6B7280"/>
                </a:solidFill>
              </a:rPr>
              <a:t>Evidence-backed forward deployed engineering readout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{{DECISION OR RECOMMENDATION}}</a:t>
            </a:r>
          </a:p>
        </p:txBody>
      </p:sp>
      <p:sp>
        <p:nvSpPr>
          <p:cNvPr id="3" name="TextBox 3"/>
          <p:cNvSpPr txBox="1"/>
          <p:nvPr/>
        </p:nvSpPr>
        <p:spPr>
          <a:xfrm>
            <a:off x="650000" y="1300000"/>
            <a:ext cx="7840000" cy="4500000"/>
          </a:xfrm>
          <a:prstGeom prst="rect">
            <a:avLst/>
          </a:prstGeom>
        </p:spPr>
        <p:txBody>
          <a:bodyPr wrap="square" rtlCol="0">
            <a:spAutoFit/>
          </a:bodyPr>
          <a:lstStyle/>
          <a:p>
            <a:r>
              <a:t>Outcome: {{MEASURABLE OUTCOME}}</a:t>
            </a:r>
          </a:p>
          <a:p>
            <a:r>
              <a:t>Phase and gate: {{CURRENT PHASE / STATUS}}</a:t>
            </a:r>
          </a:p>
          <a:p>
            <a:r>
              <a:t>Finding: {{HIGHEST-CONSEQUENCE FINDING}} [{{EVIDENCE IDS}}]</a:t>
            </a:r>
          </a:p>
          <a:p>
            <a:r>
              <a:t>Recommendation: {{RECOMMENDED DECISION}}</a:t>
            </a:r>
          </a:p>
          <a:p>
            <a:r>
              <a:t>Decision required: {{OWNER + DATE}}</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One decision, one recommendation, evidence attached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{{OUTCOME AND SCOPE ASSERTION}}</a:t>
            </a:r>
          </a:p>
        </p:txBody>
      </p:sp>
      <p:sp>
        <p:nvSpPr>
          <p:cNvPr id="3" name="TextBox 3"/>
          <p:cNvSpPr txBox="1"/>
          <p:nvPr/>
        </p:nvSpPr>
        <p:spPr>
          <a:xfrm>
            <a:off x="650000" y="1300000"/>
            <a:ext cx="7840000" cy="4500000"/>
          </a:xfrm>
          <a:prstGeom prst="rect">
            <a:avLst/>
          </a:prstGeom>
        </p:spPr>
        <p:txBody>
          <a:bodyPr wrap="square" rtlCol="0">
            <a:spAutoFit/>
          </a:bodyPr>
          <a:lstStyle/>
          <a:p>
            <a:r>
              <a:t>Business outcome: {{OUTCOME}}</a:t>
            </a:r>
          </a:p>
          <a:p>
            <a:r>
              <a:t>Baseline: {{VALUE + SOURCE + PERIOD}}</a:t>
            </a:r>
          </a:p>
          <a:p>
            <a:r>
              <a:t>Target: {{TARGET + HORIZON}}</a:t>
            </a:r>
          </a:p>
          <a:p>
            <a:r>
              <a:t>Users and owners: {{SPONSOR / OPERATOR / OWNER}}</a:t>
            </a:r>
          </a:p>
          <a:p>
            <a:r>
              <a:t>In scope: {{BOUNDARY}}</a:t>
            </a:r>
          </a:p>
          <a:p>
            <a:r>
              <a:t>Out of scope: {{NON-GOALS}}</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Projected and realized value must remain separate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{{CURRENT-STATE ASSERTION}}</a:t>
            </a:r>
          </a:p>
        </p:txBody>
      </p:sp>
      <p:sp>
        <p:nvSpPr>
          <p:cNvPr id="3" name="TextBox 3"/>
          <p:cNvSpPr txBox="1"/>
          <p:nvPr/>
        </p:nvSpPr>
        <p:spPr>
          <a:xfrm>
            <a:off x="650000" y="1300000"/>
            <a:ext cx="7840000" cy="4500000"/>
          </a:xfrm>
          <a:prstGeom prst="rect">
            <a:avLst/>
          </a:prstGeom>
        </p:spPr>
        <p:txBody>
          <a:bodyPr wrap="square" rtlCol="0">
            <a:spAutoFit/>
          </a:bodyPr>
          <a:lstStyle/>
          <a:p>
            <a:r>
              <a:t>{{TRIGGER}} → {{STEP / ACTOR / SYSTEM}} → {{DECISION}} → {{OUTPUT}}</a:t>
            </a:r>
          </a:p>
          <a:p/>
          <a:p>
            <a:r>
              <a:t>Exceptions: {{TOP EXCEPTIONS}}</a:t>
            </a:r>
          </a:p>
          <a:p>
            <a:r>
              <a:t>Shadow systems: {{SPREADSHEETS / EMAIL / MANUAL COPIES}}</a:t>
            </a:r>
          </a:p>
          <a:p>
            <a:r>
              <a:t>Bottleneck and failure cost: {{EVIDENCE}}</a:t>
            </a:r>
          </a:p>
          <a:p>
            <a:r>
              <a:t>Unknowns: {{OPEN QUESTIONS}}</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Show how work actually happens, not the SOP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{{HIGHEST-CONSEQUENCE FINDING}}</a:t>
            </a:r>
          </a:p>
        </p:txBody>
      </p:sp>
      <p:sp>
        <p:nvSpPr>
          <p:cNvPr id="3" name="TextBox 3"/>
          <p:cNvSpPr txBox="1"/>
          <p:nvPr/>
        </p:nvSpPr>
        <p:spPr>
          <a:xfrm>
            <a:off x="650000" y="1300000"/>
            <a:ext cx="7840000" cy="4500000"/>
          </a:xfrm>
          <a:prstGeom prst="rect">
            <a:avLst/>
          </a:prstGeom>
        </p:spPr>
        <p:txBody>
          <a:bodyPr wrap="square" rtlCol="0">
            <a:spAutoFit/>
          </a:bodyPr>
          <a:lstStyle/>
          <a:p>
            <a:r>
              <a:t>Finding 1: {{STATEMENT}} [{{EVIDENCE IDS}}]</a:t>
            </a:r>
          </a:p>
          <a:p>
            <a:r>
              <a:t>Why it matters: {{OUTCOME OR RISK}}</a:t>
            </a:r>
          </a:p>
          <a:p/>
          <a:p>
            <a:r>
              <a:t>Finding 2: {{STATEMENT}} [{{EVIDENCE IDS}}]</a:t>
            </a:r>
          </a:p>
          <a:p>
            <a:r>
              <a:t>Why it matters: {{OUTCOME OR RISK}}</a:t>
            </a:r>
          </a:p>
          <a:p/>
          <a:p>
            <a:r>
              <a:t>Finding 3: {{STATEMENT}} [{{EVIDENCE IDS}}]</a:t>
            </a:r>
          </a:p>
          <a:p>
            <a:r>
              <a:t>Why it matters: {{OUTCOME OR RISK}}</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Three to five findings; no unsupported narrative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{{RESPONSIBILITY OR DESIGN ASSERTION}}</a:t>
            </a:r>
          </a:p>
        </p:txBody>
      </p:sp>
      <p:sp>
        <p:nvSpPr>
          <p:cNvPr id="3" name="TextBox 3"/>
          <p:cNvSpPr txBox="1"/>
          <p:nvPr/>
        </p:nvSpPr>
        <p:spPr>
          <a:xfrm>
            <a:off x="650000" y="1300000"/>
            <a:ext cx="7840000" cy="4500000"/>
          </a:xfrm>
          <a:prstGeom prst="rect">
            <a:avLst/>
          </a:prstGeom>
        </p:spPr>
        <p:txBody>
          <a:bodyPr wrap="square" rtlCol="0">
            <a:spAutoFit/>
          </a:bodyPr>
          <a:lstStyle/>
          <a:p>
            <a:r>
              <a:t>Deterministic software: {{STEPS}}</a:t>
            </a:r>
          </a:p>
          <a:p>
            <a:r>
              <a:t>Model judgment: {{STEPS}}</a:t>
            </a:r>
          </a:p>
          <a:p>
            <a:r>
              <a:t>Human decisions: {{STEPS}}</a:t>
            </a:r>
          </a:p>
          <a:p/>
          <a:p>
            <a:r>
              <a:t>Permissions and boundaries: {{CONTROLS}}</a:t>
            </a:r>
          </a:p>
          <a:p>
            <a:r>
              <a:t>Escalation and recovery: {{PATH}}</a:t>
            </a:r>
          </a:p>
          <a:p>
            <a:r>
              <a:t>What remains unchanged: {{SYSTEMS / WORKFLOW}}</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AI is optional; accountability is not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{{EVAL EVIDENCE ASSERTION}}</a:t>
            </a:r>
          </a:p>
        </p:txBody>
      </p:sp>
      <p:sp>
        <p:nvSpPr>
          <p:cNvPr id="3" name="TextBox 3"/>
          <p:cNvSpPr txBox="1"/>
          <p:nvPr/>
        </p:nvSpPr>
        <p:spPr>
          <a:xfrm>
            <a:off x="650000" y="1300000"/>
            <a:ext cx="7840000" cy="4500000"/>
          </a:xfrm>
          <a:prstGeom prst="rect">
            <a:avLst/>
          </a:prstGeom>
        </p:spPr>
        <p:txBody>
          <a:bodyPr wrap="square" rtlCol="0">
            <a:spAutoFit/>
          </a:bodyPr>
          <a:lstStyle/>
          <a:p>
            <a:r>
              <a:t>Decision supported: {{RELEASE DECISION}}</a:t>
            </a:r>
          </a:p>
          <a:p>
            <a:r>
              <a:t>Cases and cohorts: {{NORMAL / EDGE / INCOMPLETE / AMBIGUOUS / HIGH-RISK}}</a:t>
            </a:r>
          </a:p>
          <a:p>
            <a:r>
              <a:t>Results: {{BY COHORT, NOT ONLY AGGREGATE}}</a:t>
            </a:r>
          </a:p>
          <a:p>
            <a:r>
              <a:t>Severe failures: {{NONE OR DISPOSITION}}</a:t>
            </a:r>
          </a:p>
          <a:p>
            <a:r>
              <a:t>Cost / latency / review burden: {{MEASURED}}</a:t>
            </a:r>
          </a:p>
          <a:p>
            <a:r>
              <a:t>Recommendation: {{PROCEED / HOLD / NARROW}}</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A pass rate never overrides a severe unresolved failure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{{DEPLOYMENT OR ADOPTION ASSERTION}}</a:t>
            </a:r>
          </a:p>
        </p:txBody>
      </p:sp>
      <p:sp>
        <p:nvSpPr>
          <p:cNvPr id="3" name="TextBox 3"/>
          <p:cNvSpPr txBox="1"/>
          <p:nvPr/>
        </p:nvSpPr>
        <p:spPr>
          <a:xfrm>
            <a:off x="650000" y="1300000"/>
            <a:ext cx="7840000" cy="4500000"/>
          </a:xfrm>
          <a:prstGeom prst="rect">
            <a:avLst/>
          </a:prstGeom>
        </p:spPr>
        <p:txBody>
          <a:bodyPr wrap="square" rtlCol="0">
            <a:spAutoFit/>
          </a:bodyPr>
          <a:lstStyle/>
          <a:p>
            <a:r>
              <a:t>Current autonomy: {{STAGE}}</a:t>
            </a:r>
          </a:p>
          <a:p>
            <a:r>
              <a:t>Production cohort: {{USERS / WORKFLOW}}</a:t>
            </a:r>
          </a:p>
          <a:p>
            <a:r>
              <a:t>Monitoring: {{OUTCOME / QUALITY / COST / ERRORS}}</a:t>
            </a:r>
          </a:p>
          <a:p>
            <a:r>
              <a:t>Human control: {{REVIEW / OVERRIDE}}</a:t>
            </a:r>
          </a:p>
          <a:p>
            <a:r>
              <a:t>Rollback: {{TESTED PATH}}</a:t>
            </a:r>
          </a:p>
          <a:p>
            <a:r>
              <a:t>Adoption: {{MEASURE + CURRENT SIGNAL}}</a:t>
            </a:r>
          </a:p>
          <a:p>
            <a:r>
              <a:t>Operating owner: {{NAME / ROLE}}</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Increase autonomy only after measured evidence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{{HIGHEST-CONSEQUENCE RISK}}</a:t>
            </a:r>
          </a:p>
        </p:txBody>
      </p:sp>
      <p:sp>
        <p:nvSpPr>
          <p:cNvPr id="3" name="TextBox 3"/>
          <p:cNvSpPr txBox="1"/>
          <p:nvPr/>
        </p:nvSpPr>
        <p:spPr>
          <a:xfrm>
            <a:off x="650000" y="1300000"/>
            <a:ext cx="7840000" cy="4500000"/>
          </a:xfrm>
          <a:prstGeom prst="rect">
            <a:avLst/>
          </a:prstGeom>
        </p:spPr>
        <p:txBody>
          <a:bodyPr wrap="square" rtlCol="0">
            <a:spAutoFit/>
          </a:bodyPr>
          <a:lstStyle/>
          <a:p>
            <a:r>
              <a:t>Risk: {{RISK}}</a:t>
            </a:r>
          </a:p>
          <a:p>
            <a:r>
              <a:t>Impact / likelihood: {{RATING + EVIDENCE}}</a:t>
            </a:r>
          </a:p>
          <a:p>
            <a:r>
              <a:t>Control: {{CONTROL}}</a:t>
            </a:r>
          </a:p>
          <a:p>
            <a:r>
              <a:t>Residual risk: {{WHAT REMAINS}}</a:t>
            </a:r>
          </a:p>
          <a:p>
            <a:r>
              <a:t>Owner: {{OWNER}}</a:t>
            </a:r>
          </a:p>
          <a:p>
            <a:r>
              <a:t>Trigger: {{WHEN TO ESCALATE OR STOP}}</a:t>
            </a:r>
          </a:p>
          <a:p/>
          <a:p>
            <a:r>
              <a:t>Repeat for the highest-consequence risks.</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Name residual risk; do not hide it in an appendix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{{DECISION AND NEXT-STEPS ASSERTION}}</a:t>
            </a:r>
          </a:p>
        </p:txBody>
      </p:sp>
      <p:sp>
        <p:nvSpPr>
          <p:cNvPr id="3" name="TextBox 3"/>
          <p:cNvSpPr txBox="1"/>
          <p:nvPr/>
        </p:nvSpPr>
        <p:spPr>
          <a:xfrm>
            <a:off x="650000" y="1300000"/>
            <a:ext cx="7840000" cy="500000"/>
          </a:xfrm>
          <a:prstGeom prst="rect">
            <a:avLst/>
          </a:prstGeom>
        </p:spPr>
        <p:txBody>
          <a:bodyPr wrap="square" rtlCol="0">
            <a:spAutoFit/>
          </a:bodyPr>
          <a:lstStyle/>
          <a:p>
            <a:r>
              <a:rPr sz="1400">
                <a:solidFill>
                  <a:srgbClr val="4B5563"/>
                </a:solidFill>
              </a:rPr>
              <a:t>Use one evidence-linked row per decision or next step. Add rows as needed.</a:t>
            </a:r>
          </a:p>
          <a:p>
            <a:r>
              <a:t/>
            </a:r>
          </a:p>
          <a:p>
            <a:r>
              <a:t/>
            </a:r>
          </a:p>
          <a:p/>
          <a:p>
            <a:r>
              <a:t/>
            </a:r>
          </a:p>
          <a:p>
            <a:r>
              <a:t/>
            </a:r>
          </a:p>
          <a:p>
            <a:r>
              <a:t/>
            </a:r>
          </a:p>
          <a:p>
            <a:r>
              <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Every action has one owner and one observable finish</a:t>
            </a:r>
          </a:p>
        </p:txBody>
      </p:sp>
      <p:graphicFrame>
        <p:nvGraphicFramePr>
          <p:cNvPr id="5" name="Table 5"/>
          <p:cNvGraphicFramePr>
            <a:graphicFrameLocks noGrp="1"/>
          </p:cNvGraphicFramePr>
          <p:nvPr/>
        </p:nvGraphicFramePr>
        <p:xfrm>
          <a:off x="650000" y="2100000"/>
          <a:ext cx="7840000" cy="2800000"/>
        </p:xfrm>
        <a:graphic>
          <a:graphicData uri="http://schemas.openxmlformats.org/drawingml/2006/table">
            <a:tbl>
              <a:tblPr firstRow="1" bandRow="1">
                <a:tableStyleId>{5C22544A-7EE6-4342-B048-85BDC9FD1C3A}</a:tableStyleId>
              </a:tblPr>
              <a:tblGrid>
                <a:gridCol w="1306666"/>
                <a:gridCol w="1306666"/>
                <a:gridCol w="1306666"/>
                <a:gridCol w="1306666"/>
                <a:gridCol w="1306666"/>
                <a:gridCol w="1306666"/>
              </a:tblGrid>
              <a:tr h="700000">
                <a:tc>
                  <a:txBody>
                    <a:bodyPr/>
                    <a:lstStyle/>
                    <a:p>
                      <a:r>
                        <a:t>Status / action</a:t>
                      </a:r>
                    </a:p>
                  </a:txBody>
                  <a:tcPr/>
                </a:tc>
                <a:tc>
                  <a:txBody>
                    <a:bodyPr/>
                    <a:lstStyle/>
                    <a:p>
                      <a:r>
                        <a:t>Owner</a:t>
                      </a:r>
                    </a:p>
                  </a:txBody>
                  <a:tcPr/>
                </a:tc>
                <a:tc>
                  <a:txBody>
                    <a:bodyPr/>
                    <a:lstStyle/>
                    <a:p>
                      <a:r>
                        <a:t>Due</a:t>
                      </a:r>
                    </a:p>
                  </a:txBody>
                  <a:tcPr/>
                </a:tc>
                <a:tc>
                  <a:txBody>
                    <a:bodyPr/>
                    <a:lstStyle/>
                    <a:p>
                      <a:r>
                        <a:t>Dependency</a:t>
                      </a:r>
                    </a:p>
                  </a:txBody>
                  <a:tcPr/>
                </a:tc>
                <a:tc>
                  <a:txBody>
                    <a:bodyPr/>
                    <a:lstStyle/>
                    <a:p>
                      <a:r>
                        <a:t>Definition of done</a:t>
                      </a:r>
                    </a:p>
                  </a:txBody>
                  <a:tcPr/>
                </a:tc>
                <a:tc>
                  <a:txBody>
                    <a:bodyPr/>
                    <a:lstStyle/>
                    <a:p>
                      <a:r>
                        <a:t>Evidence</a:t>
                      </a:r>
                    </a:p>
                  </a:txBody>
                  <a:tcPr/>
                </a:tc>
              </a:tr>
              <a:tr h="700000">
                <a:tc>
                  <a:txBody>
                    <a:bodyPr/>
                    <a:lstStyle/>
                    <a:p>
                      <a:r>
                        <a:t>{{STATUS}} - {{ITEM 1}}</a:t>
                      </a:r>
                    </a:p>
                  </a:txBody>
                  <a:tcPr/>
                </a:tc>
                <a:tc>
                  <a:txBody>
                    <a:bodyPr/>
                    <a:lstStyle/>
                    <a:p>
                      <a:r>
                        <a:t>{{OWNER}}</a:t>
                      </a:r>
                    </a:p>
                  </a:txBody>
                  <a:tcPr/>
                </a:tc>
                <a:tc>
                  <a:txBody>
                    <a:bodyPr/>
                    <a:lstStyle/>
                    <a:p>
                      <a:r>
                        <a:t>{{DUE}}</a:t>
                      </a:r>
                    </a:p>
                  </a:txBody>
                  <a:tcPr/>
                </a:tc>
                <a:tc>
                  <a:txBody>
                    <a:bodyPr/>
                    <a:lstStyle/>
                    <a:p>
                      <a:r>
                        <a:t>{{DEPENDENCY}}</a:t>
                      </a:r>
                    </a:p>
                  </a:txBody>
                  <a:tcPr/>
                </a:tc>
                <a:tc>
                  <a:txBody>
                    <a:bodyPr/>
                    <a:lstStyle/>
                    <a:p>
                      <a:r>
                        <a:t>{{DONE}}</a:t>
                      </a:r>
                    </a:p>
                  </a:txBody>
                  <a:tcPr/>
                </a:tc>
                <a:tc>
                  <a:txBody>
                    <a:bodyPr/>
                    <a:lstStyle/>
                    <a:p>
                      <a:r>
                        <a:t>{{EVIDENCE IDS}}</a:t>
                      </a:r>
                    </a:p>
                  </a:txBody>
                  <a:tcPr/>
                </a:tc>
              </a:tr>
              <a:tr h="700000">
                <a:tc>
                  <a:txBody>
                    <a:bodyPr/>
                    <a:lstStyle/>
                    <a:p>
                      <a:r>
                        <a:t>{{STATUS}} - {{ITEM 2}}</a:t>
                      </a:r>
                    </a:p>
                  </a:txBody>
                  <a:tcPr/>
                </a:tc>
                <a:tc>
                  <a:txBody>
                    <a:bodyPr/>
                    <a:lstStyle/>
                    <a:p>
                      <a:r>
                        <a:t>{{OWNER}}</a:t>
                      </a:r>
                    </a:p>
                  </a:txBody>
                  <a:tcPr/>
                </a:tc>
                <a:tc>
                  <a:txBody>
                    <a:bodyPr/>
                    <a:lstStyle/>
                    <a:p>
                      <a:r>
                        <a:t>{{DUE}}</a:t>
                      </a:r>
                    </a:p>
                  </a:txBody>
                  <a:tcPr/>
                </a:tc>
                <a:tc>
                  <a:txBody>
                    <a:bodyPr/>
                    <a:lstStyle/>
                    <a:p>
                      <a:r>
                        <a:t>{{DEPENDENCY}}</a:t>
                      </a:r>
                    </a:p>
                  </a:txBody>
                  <a:tcPr/>
                </a:tc>
                <a:tc>
                  <a:txBody>
                    <a:bodyPr/>
                    <a:lstStyle/>
                    <a:p>
                      <a:r>
                        <a:t>{{DONE}}</a:t>
                      </a:r>
                    </a:p>
                  </a:txBody>
                  <a:tcPr/>
                </a:tc>
                <a:tc>
                  <a:txBody>
                    <a:bodyPr/>
                    <a:lstStyle/>
                    <a:p>
                      <a:r>
                        <a:t>{{EVIDENCE IDS}}</a:t>
                      </a:r>
                    </a:p>
                  </a:txBody>
                  <a:tcPr/>
                </a:tc>
              </a:tr>
              <a:tr h="700000">
                <a:tc>
                  <a:txBody>
                    <a:bodyPr/>
                    <a:lstStyle/>
                    <a:p>
                      <a:r>
                        <a:t>{{STATUS}} - {{ITEM 3}}</a:t>
                      </a:r>
                    </a:p>
                  </a:txBody>
                  <a:tcPr/>
                </a:tc>
                <a:tc>
                  <a:txBody>
                    <a:bodyPr/>
                    <a:lstStyle/>
                    <a:p>
                      <a:r>
                        <a:t>{{OWNER}}</a:t>
                      </a:r>
                    </a:p>
                  </a:txBody>
                  <a:tcPr/>
                </a:tc>
                <a:tc>
                  <a:txBody>
                    <a:bodyPr/>
                    <a:lstStyle/>
                    <a:p>
                      <a:r>
                        <a:t>{{DUE}}</a:t>
                      </a:r>
                    </a:p>
                  </a:txBody>
                  <a:tcPr/>
                </a:tc>
                <a:tc>
                  <a:txBody>
                    <a:bodyPr/>
                    <a:lstStyle/>
                    <a:p>
                      <a:r>
                        <a:t>{{DEPENDENCY}}</a:t>
                      </a:r>
                    </a:p>
                  </a:txBody>
                  <a:tcPr/>
                </a:tc>
                <a:tc>
                  <a:txBody>
                    <a:bodyPr/>
                    <a:lstStyle/>
                    <a:p>
                      <a:r>
                        <a:t>{{DONE}}</a:t>
                      </a:r>
                    </a:p>
                  </a:txBody>
                  <a:tcPr/>
                </a:tc>
                <a:tc>
                  <a:txBody>
                    <a:bodyPr/>
                    <a:lstStyle/>
                    <a:p>
                      <a:r>
                        <a:t>{{EVIDENCE IDS}}</a:t>
                      </a: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9B1C1C"/>
                </a:solidFill>
              </a:rPr>
              <a:t>{{INTERNAL PRODUCT OR LEADERSHIP ASSERTION}}</a:t>
            </a:r>
          </a:p>
        </p:txBody>
      </p:sp>
      <p:sp>
        <p:nvSpPr>
          <p:cNvPr id="3" name="TextBox 3"/>
          <p:cNvSpPr txBox="1"/>
          <p:nvPr/>
        </p:nvSpPr>
        <p:spPr>
          <a:xfrm>
            <a:off x="650000" y="1300000"/>
            <a:ext cx="7840000" cy="4500000"/>
          </a:xfrm>
          <a:prstGeom prst="rect">
            <a:avLst/>
          </a:prstGeom>
        </p:spPr>
        <p:txBody>
          <a:bodyPr wrap="square" rtlCol="0">
            <a:spAutoFit/>
          </a:bodyPr>
          <a:lstStyle/>
          <a:p>
            <a:r>
              <a:t>INTERNAL ONLY - REMOVE FROM CUSTOMER DECK</a:t>
            </a:r>
          </a:p>
          <a:p/>
          <a:p>
            <a:r>
              <a:t>Engagement health: {{GREEN / AMBER / RED + WHY}}</a:t>
            </a:r>
          </a:p>
          <a:p>
            <a:r>
              <a:t>Product signal: {{REPEATED NEED + EVIDENCE}}</a:t>
            </a:r>
          </a:p>
          <a:p>
            <a:r>
              <a:t>Reusable vs bespoke: {{DISPOSITION}}</a:t>
            </a:r>
          </a:p>
          <a:p>
            <a:r>
              <a:t>Delivery economics: {{EFFORT / VALUE / MAINTENANCE}}</a:t>
            </a:r>
          </a:p>
          <a:p>
            <a:r>
              <a:t>Resource or escalation needed: {{DECISION}}</a:t>
            </a:r>
          </a:p>
          <a:p>
            <a:r>
              <a:t>Customer dynamics: {{ONLY IF NECESSARY AND APPROPRIATE}}</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9B1C1C"/>
                </a:solidFill>
              </a:rPr>
              <a:t>Never leak internal commercial, staffing, or customer-sensitive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2"/>
          <p:cNvSpPr txBox="1"/>
          <p:nvPr/>
        </p:nvSpPr>
        <p:spPr>
          <a:xfrm>
            <a:off x="500000" y="350000"/>
            <a:ext cx="8140000" cy="600000"/>
          </a:xfrm>
          <a:prstGeom prst="rect">
            <a:avLst/>
          </a:prstGeom>
        </p:spPr>
        <p:txBody>
          <a:bodyPr wrap="square" rtlCol="0">
            <a:spAutoFit/>
          </a:bodyPr>
          <a:lstStyle/>
          <a:p>
            <a:r>
              <a:rPr b="1" sz="2800">
                <a:solidFill>
                  <a:srgbClr val="0B2A5B"/>
                </a:solidFill>
              </a:rPr>
              <a:t>{{EVIDENCE OR METHOD ASSERTION}}</a:t>
            </a:r>
          </a:p>
        </p:txBody>
      </p:sp>
      <p:sp>
        <p:nvSpPr>
          <p:cNvPr id="3" name="TextBox 3"/>
          <p:cNvSpPr txBox="1"/>
          <p:nvPr/>
        </p:nvSpPr>
        <p:spPr>
          <a:xfrm>
            <a:off x="650000" y="1300000"/>
            <a:ext cx="7840000" cy="4500000"/>
          </a:xfrm>
          <a:prstGeom prst="rect">
            <a:avLst/>
          </a:prstGeom>
        </p:spPr>
        <p:txBody>
          <a:bodyPr wrap="square" rtlCol="0">
            <a:spAutoFit/>
          </a:bodyPr>
          <a:lstStyle/>
          <a:p>
            <a:r>
              <a:t>Evidence ID | Source | Class | Date | Confidence | Customer-safe</a:t>
            </a:r>
          </a:p>
          <a:p>
            <a:r>
              <a:t>{{EVIDENCE REGISTER}}</a:t>
            </a:r>
          </a:p>
          <a:p/>
          <a:p>
            <a:r>
              <a:t>Unknowns and deferred decisions:</a:t>
            </a:r>
          </a:p>
          <a:p>
            <a:r>
              <a:t>{{OPEN ITEMS + OWNER + REVISIT CONDITION}}</a:t>
            </a:r>
          </a:p>
          <a:p/>
          <a:p>
            <a:r>
              <a:t>Method:</a:t>
            </a:r>
          </a:p>
          <a:p>
            <a:r>
              <a:t>{{OBSERVATION / INTERVIEWS / LOGS / EVALS}}</a:t>
            </a:r>
          </a:p>
        </p:txBody>
      </p:sp>
      <p:sp>
        <p:nvSpPr>
          <p:cNvPr id="4" name="TextBox 4"/>
          <p:cNvSpPr txBox="1"/>
          <p:nvPr/>
        </p:nvSpPr>
        <p:spPr>
          <a:xfrm>
            <a:off x="650000" y="6250000"/>
            <a:ext cx="7840000" cy="250000"/>
          </a:xfrm>
          <a:prstGeom prst="rect">
            <a:avLst/>
          </a:prstGeom>
        </p:spPr>
        <p:txBody>
          <a:bodyPr wrap="square" rtlCol="0">
            <a:spAutoFit/>
          </a:bodyPr>
          <a:lstStyle/>
          <a:p>
            <a:r>
              <a:rPr sz="900">
                <a:solidFill>
                  <a:srgbClr val="6B7280"/>
                </a:solidFill>
              </a:rPr>
              <a:t>Every consequential claim must be traceable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